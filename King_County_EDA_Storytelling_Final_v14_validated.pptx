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da1f77e0964372" /><Relationship Type="http://schemas.openxmlformats.org/officeDocument/2006/relationships/extended-properties" Target="/docProps/app.xml" Id="R8b96f0dbb17041b8" /><Relationship Type="http://schemas.openxmlformats.org/officeDocument/2006/relationships/officeDocument" Target="/ppt/presentation.xml" Id="R7a506e366ef249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1b31f224f4453d"/>
  </p:sldMasterIdLst>
  <p:notesMasterIdLst>
    <p:notesMasterId xmlns:r="http://schemas.openxmlformats.org/officeDocument/2006/relationships" r:id="Rb4eff984b8ce4182"/>
  </p:notesMasterIdLst>
  <p:sldIdLst>
    <p:sldId xmlns:r="http://schemas.openxmlformats.org/officeDocument/2006/relationships" id="256" r:id="R7d91c47659394fd6"/>
    <p:sldId xmlns:r="http://schemas.openxmlformats.org/officeDocument/2006/relationships" id="257" r:id="Rbd8e54d1f5b740c0"/>
    <p:sldId xmlns:r="http://schemas.openxmlformats.org/officeDocument/2006/relationships" id="258" r:id="Ree07a0bad4494e1a"/>
    <p:sldId xmlns:r="http://schemas.openxmlformats.org/officeDocument/2006/relationships" id="259" r:id="Ra6bda9134b6f4505"/>
    <p:sldId xmlns:r="http://schemas.openxmlformats.org/officeDocument/2006/relationships" id="260" r:id="Rcf2f32ab1d634077"/>
    <p:sldId xmlns:r="http://schemas.openxmlformats.org/officeDocument/2006/relationships" id="261" r:id="Rcc6f915199fa4c7f"/>
    <p:sldId xmlns:r="http://schemas.openxmlformats.org/officeDocument/2006/relationships" id="262" r:id="R7a31462eae044b25"/>
    <p:sldId xmlns:r="http://schemas.openxmlformats.org/officeDocument/2006/relationships" id="263" r:id="R9deb9d1f45e24416"/>
    <p:sldId xmlns:r="http://schemas.openxmlformats.org/officeDocument/2006/relationships" id="264" r:id="R3baf392ab6e04517"/>
    <p:sldId xmlns:r="http://schemas.openxmlformats.org/officeDocument/2006/relationships" id="265" r:id="R86f3a9105fa54cd9"/>
    <p:sldId xmlns:r="http://schemas.openxmlformats.org/officeDocument/2006/relationships" id="266" r:id="R2eb7d13a126d4042"/>
    <p:sldId xmlns:r="http://schemas.openxmlformats.org/officeDocument/2006/relationships" id="267" r:id="Ra0636b17b89b43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38c9b83fa04a90" /><Relationship Type="http://schemas.openxmlformats.org/officeDocument/2006/relationships/slideMaster" Target="/ppt/slideMasters/slideMaster1.xml" Id="R4d1b31f224f4453d" /><Relationship Type="http://schemas.openxmlformats.org/officeDocument/2006/relationships/notesMaster" Target="/ppt/notesMasters/notesMaster1.xml" Id="Rb4eff984b8ce4182" /><Relationship Type="http://schemas.openxmlformats.org/officeDocument/2006/relationships/presProps" Target="/ppt/presProps.xml" Id="Ra238a6445bbf460c" /><Relationship Type="http://schemas.openxmlformats.org/officeDocument/2006/relationships/tableStyles" Target="/ppt/tableStyles.xml" Id="Rf1a9a9c3ef4440a3" /><Relationship Type="http://schemas.openxmlformats.org/officeDocument/2006/relationships/slide" Target="/ppt/slides/slide1.xml" Id="R7d91c47659394fd6" /><Relationship Type="http://schemas.openxmlformats.org/officeDocument/2006/relationships/slide" Target="/ppt/slides/slide2.xml" Id="Rbd8e54d1f5b740c0" /><Relationship Type="http://schemas.openxmlformats.org/officeDocument/2006/relationships/slide" Target="/ppt/slides/slide3.xml" Id="Ree07a0bad4494e1a" /><Relationship Type="http://schemas.openxmlformats.org/officeDocument/2006/relationships/slide" Target="/ppt/slides/slide4.xml" Id="Ra6bda9134b6f4505" /><Relationship Type="http://schemas.openxmlformats.org/officeDocument/2006/relationships/slide" Target="/ppt/slides/slide5.xml" Id="Rcf2f32ab1d634077" /><Relationship Type="http://schemas.openxmlformats.org/officeDocument/2006/relationships/slide" Target="/ppt/slides/slide6.xml" Id="Rcc6f915199fa4c7f" /><Relationship Type="http://schemas.openxmlformats.org/officeDocument/2006/relationships/slide" Target="/ppt/slides/slide7.xml" Id="R7a31462eae044b25" /><Relationship Type="http://schemas.openxmlformats.org/officeDocument/2006/relationships/slide" Target="/ppt/slides/slide8.xml" Id="R9deb9d1f45e24416" /><Relationship Type="http://schemas.openxmlformats.org/officeDocument/2006/relationships/slide" Target="/ppt/slides/slide9.xml" Id="R3baf392ab6e04517" /><Relationship Type="http://schemas.openxmlformats.org/officeDocument/2006/relationships/slide" Target="/ppt/slides/slide10.xml" Id="R86f3a9105fa54cd9" /><Relationship Type="http://schemas.openxmlformats.org/officeDocument/2006/relationships/slide" Target="/ppt/slides/slide11.xml" Id="R2eb7d13a126d4042" /><Relationship Type="http://schemas.openxmlformats.org/officeDocument/2006/relationships/slide" Target="/ppt/slides/slide12.xml" Id="Ra0636b17b89b43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385abf536042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0a8c03c9084f4e" /><Relationship Type="http://schemas.openxmlformats.org/officeDocument/2006/relationships/notesMaster" Target="/ppt/notesMasters/notesMaster1.xml" Id="Rf1471be4bd774b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21d147dbf84e7a" /><Relationship Type="http://schemas.openxmlformats.org/officeDocument/2006/relationships/notesMaster" Target="/ppt/notesMasters/notesMaster1.xml" Id="R875dadb9370842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1210617d104cf7" /><Relationship Type="http://schemas.openxmlformats.org/officeDocument/2006/relationships/notesMaster" Target="/ppt/notesMasters/notesMaster1.xml" Id="R7fbb0707d5b942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09ffab9bb84efb" /><Relationship Type="http://schemas.openxmlformats.org/officeDocument/2006/relationships/notesMaster" Target="/ppt/notesMasters/notesMaster1.xml" Id="R0c48c69d7b6c4f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3fc4e18ae24d50" /><Relationship Type="http://schemas.openxmlformats.org/officeDocument/2006/relationships/notesMaster" Target="/ppt/notesMasters/notesMaster1.xml" Id="R4709bc530d5c4e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10df6991f945ed" /><Relationship Type="http://schemas.openxmlformats.org/officeDocument/2006/relationships/notesMaster" Target="/ppt/notesMasters/notesMaster1.xml" Id="R09eac4230fff49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9cc231d66c4b36" /><Relationship Type="http://schemas.openxmlformats.org/officeDocument/2006/relationships/notesMaster" Target="/ppt/notesMasters/notesMaster1.xml" Id="Rba504302f8cf46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c83541304142bf" /><Relationship Type="http://schemas.openxmlformats.org/officeDocument/2006/relationships/notesMaster" Target="/ppt/notesMasters/notesMaster1.xml" Id="R551d483ca4cc4e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36f880354146b4" /><Relationship Type="http://schemas.openxmlformats.org/officeDocument/2006/relationships/notesMaster" Target="/ppt/notesMasters/notesMaster1.xml" Id="R5b7d138aa54447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ab11834c8445f8" /><Relationship Type="http://schemas.openxmlformats.org/officeDocument/2006/relationships/notesMaster" Target="/ppt/notesMasters/notesMaster1.xml" Id="Re9201c319b3b48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2da90179794097" /><Relationship Type="http://schemas.openxmlformats.org/officeDocument/2006/relationships/notesMaster" Target="/ppt/notesMasters/notesMaster1.xml" Id="R35eab8ca635745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962578afd64ce4" /><Relationship Type="http://schemas.openxmlformats.org/officeDocument/2006/relationships/notesMaster" Target="/ppt/notesMasters/notesMaster1.xml" Id="R0faac8cd5c4f4d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question: which qualified historic home best balances premium quality, land and golf access?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each hypothesis answers a different part of the buying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Premium criteria: large living area, high grade, 4+ bathrooms and large lot among historic non-waterfront homes.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recommend the house because it is expensive. Use this slide only to establish premium-market positioning.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market-level relationship. The next two slides test it directly among the qualified candidates.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House 5249800010 wins on lot size alone. The next slide shows why it is not the best overall choice.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recommended property is not the closest to golf. It is the strongest land-access compromise.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Unlimited budget changes the decision: discount is an option, not the primary objective.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Buyer-fit score normalizes the shortlisted homes and applies the stated weights. Use it to compare fit, not to predict price.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the distance is straight-line, not driving distance.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makes the evidence-to-hypothesis mapping explicit.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distinguishing overall fit from price. The alternatives are not backups; each represents a different priority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0012d36f0b45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3de682c8f4474c" /><Relationship Type="http://schemas.openxmlformats.org/officeDocument/2006/relationships/slideLayout" Target="/ppt/slideLayouts/slideLayout1.xml" Id="R643c4ba879e64f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3c4ba879e64f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8284454f046f1" /><Relationship Type="http://schemas.openxmlformats.org/officeDocument/2006/relationships/notesSlide" Target="/ppt/notesSlides/notesSlide1.xml" Id="R92e42d6525eb44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d063d623546d3" /><Relationship Type="http://schemas.openxmlformats.org/officeDocument/2006/relationships/notesSlide" Target="/ppt/notesSlides/notesSlide2.xml" Id="R884a6e54783e4f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2595f4d4e47c6" /><Relationship Type="http://schemas.openxmlformats.org/officeDocument/2006/relationships/chart" Target="/ppt/slides/charts/chart1.xml" Id="Racd15350c9924e04" /><Relationship Type="http://schemas.openxmlformats.org/officeDocument/2006/relationships/notesSlide" Target="/ppt/notesSlides/notesSlide3.xml" Id="R856c23f1844f4e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63ffe2f1b4966" /><Relationship Type="http://schemas.openxmlformats.org/officeDocument/2006/relationships/chart" Target="/ppt/slides/charts/chart2.xml" Id="R7a2e9b596307462c" /><Relationship Type="http://schemas.openxmlformats.org/officeDocument/2006/relationships/notesSlide" Target="/ppt/notesSlides/notesSlide4.xml" Id="R03cf09cf8a1e47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64b5b8ae5409a" /><Relationship Type="http://schemas.openxmlformats.org/officeDocument/2006/relationships/chart" Target="/ppt/slides/charts/chart3.xml" Id="Rc5568813b00e4348" /><Relationship Type="http://schemas.openxmlformats.org/officeDocument/2006/relationships/notesSlide" Target="/ppt/notesSlides/notesSlide5.xml" Id="R8b1e218e8cf448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3c0194eea4bb3" /><Relationship Type="http://schemas.openxmlformats.org/officeDocument/2006/relationships/image" Target="/ppt/media/image.png" Id="Re982f9e5f5fb49a6" /><Relationship Type="http://schemas.openxmlformats.org/officeDocument/2006/relationships/notesSlide" Target="/ppt/notesSlides/notesSlide6.xml" Id="R3160934fb56940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aae01aeb2499a" /><Relationship Type="http://schemas.openxmlformats.org/officeDocument/2006/relationships/image" Target="/ppt/media/image2.png" Id="Raaf80c88725245c7" /><Relationship Type="http://schemas.openxmlformats.org/officeDocument/2006/relationships/notesSlide" Target="/ppt/notesSlides/notesSlide7.xml" Id="Re2caf70030b345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db9babd4e4d3c" /><Relationship Type="http://schemas.openxmlformats.org/officeDocument/2006/relationships/chart" Target="/ppt/slides/charts/chart4.xml" Id="R5ad2e01d9a494aa2" /><Relationship Type="http://schemas.openxmlformats.org/officeDocument/2006/relationships/notesSlide" Target="/ppt/notesSlides/notesSlide8.xml" Id="R8bf02278cd0f4b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a99d687b04a9e" /><Relationship Type="http://schemas.openxmlformats.org/officeDocument/2006/relationships/image" Target="/ppt/media/image3.png" Id="R6fa8ff1f7fac424f" /><Relationship Type="http://schemas.openxmlformats.org/officeDocument/2006/relationships/notesSlide" Target="/ppt/notesSlides/notesSlide9.xml" Id="R815e824c35c24a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cb4cb69b048f9" /><Relationship Type="http://schemas.openxmlformats.org/officeDocument/2006/relationships/image" Target="/ppt/media/image4.png" Id="R9f084a2ceb6345fc" /><Relationship Type="http://schemas.openxmlformats.org/officeDocument/2006/relationships/notesSlide" Target="/ppt/notesSlides/notesSlide10.xml" Id="R8ab7562092e642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a21467576493c" /><Relationship Type="http://schemas.openxmlformats.org/officeDocument/2006/relationships/notesSlide" Target="/ppt/notesSlides/notesSlide11.xml" Id="R1d982bbf04bc45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dd96164674ca7" /><Relationship Type="http://schemas.openxmlformats.org/officeDocument/2006/relationships/notesSlide" Target="/ppt/notesSlides/notesSlide12.xml" Id="R96c220cc60fd4e8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Median sale price ($M)</c:v>
          </c:tx>
          <c:spPr>
            <a:solidFill xmlns:a="http://schemas.openxmlformats.org/drawingml/2006/main">
              <a:srgbClr val="16878A"/>
            </a:solidFill>
          </c:spP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0.32</c:v>
                </c:pt>
                <c:pt idx="1">
                  <c:v>0.49</c:v>
                </c:pt>
                <c:pt idx="2">
                  <c:v>0.68</c:v>
                </c:pt>
                <c:pt idx="3">
                  <c:v>0.78</c:v>
                </c:pt>
                <c:pt idx="4">
                  <c:v>2.3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Sale price ($M)</c:v>
          </c:tx>
          <c:spPr>
            <a:solidFill xmlns:a="http://schemas.openxmlformats.org/drawingml/2006/main">
              <a:srgbClr val="285670"/>
            </a:solidFill>
          </c:spPr>
          <c:cat>
            <c:numRef>
              <c:f>'Chart Data'!$A$2:$A$11</c:f>
              <c:numCache>
                <c:formatCode>General</c:formatCode>
                <c:ptCount val="10"/>
                <c:pt idx="0">
                  <c:v>1118002000</c:v>
                </c:pt>
                <c:pt idx="1">
                  <c:v>1118001408</c:v>
                </c:pt>
                <c:pt idx="2">
                  <c:v>2397101606</c:v>
                </c:pt>
                <c:pt idx="3">
                  <c:v>5249800010</c:v>
                </c:pt>
                <c:pt idx="4">
                  <c:v>5317100750</c:v>
                </c:pt>
                <c:pt idx="5">
                  <c:v>7159200005</c:v>
                </c:pt>
                <c:pt idx="6">
                  <c:v>1068000375</c:v>
                </c:pt>
                <c:pt idx="7">
                  <c:v>1346300150</c:v>
                </c:pt>
                <c:pt idx="8">
                  <c:v>1118000320</c:v>
                </c:pt>
                <c:pt idx="9">
                  <c:v>6762700020</c:v>
                </c:pt>
              </c:numCache>
            </c:num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2.47</c:v>
                </c:pt>
                <c:pt idx="1">
                  <c:v>2.54</c:v>
                </c:pt>
                <c:pt idx="2">
                  <c:v>2.63</c:v>
                </c:pt>
                <c:pt idx="3">
                  <c:v>2.73</c:v>
                </c:pt>
                <c:pt idx="4">
                  <c:v>2.92</c:v>
                </c:pt>
                <c:pt idx="5">
                  <c:v>3.2</c:v>
                </c:pt>
                <c:pt idx="6">
                  <c:v>3.2</c:v>
                </c:pt>
                <c:pt idx="7">
                  <c:v>3.3</c:v>
                </c:pt>
                <c:pt idx="8">
                  <c:v>3.4</c:v>
                </c:pt>
                <c:pt idx="9">
                  <c:v>7.7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Median lot size (sq ft)</c:v>
          </c:tx>
          <c:spPr>
            <a:solidFill xmlns:a="http://schemas.openxmlformats.org/drawingml/2006/main">
              <a:srgbClr val="16878A"/>
            </a:solidFill>
          </c:spPr>
          <c:cat>
            <c:strRef>
              <c:f>'Chart Data'!$A$2:$A$5</c:f>
              <c:strCache>
                <c:ptCount val="4"/>
                <c:pt idx="0">
                  <c:v>0–5 km</c:v>
                </c:pt>
                <c:pt idx="1">
                  <c:v>5–10 km</c:v>
                </c:pt>
                <c:pt idx="2">
                  <c:v>10–20 km</c:v>
                </c:pt>
                <c:pt idx="3">
                  <c:v>20+ km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4500</c:v>
                </c:pt>
                <c:pt idx="1">
                  <c:v>6000</c:v>
                </c:pt>
                <c:pt idx="2">
                  <c:v>10000</c:v>
                </c:pt>
                <c:pt idx="3">
                  <c:v>9700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Median price / sq ft</c:v>
          </c:tx>
          <c:spPr>
            <a:solidFill xmlns:a="http://schemas.openxmlformats.org/drawingml/2006/main">
              <a:srgbClr val="B88B43"/>
            </a:solidFill>
          </c:spPr>
          <c:cat>
            <c:strRef>
              <c:f>'Chart Data'!$A$2:$A$3</c:f>
              <c:strCache>
                <c:ptCount val="2"/>
                <c:pt idx="0">
                  <c:v>Ready premium</c:v>
                </c:pt>
                <c:pt idx="1">
                  <c:v>Renovation opportunity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470</c:v>
                </c:pt>
                <c:pt idx="1">
                  <c:v>247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5F1EB-3C49-405E-9EE1-2C554D3D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rPr>
              <a:t>KING COUNTY HOUSING EDA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C0788-5311-4AC6-B848-6377C19F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28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From hypotheses to a</a:t>
            </a:r>
          </a:p>
          <a:p xmlns:a="http://schemas.openxmlformats.org/drawingml/2006/main">
            <a:pPr algn="l">
              <a:defRPr sz="375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property 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7D01B-7923-4051-9A39-CB04D26A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A decision story for Jacob Phillips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9E65A-40ED-4D6F-9475-73085416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728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93978-D874-4161-8F52-7B03BAF6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433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Premium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BBEBE-DA4C-4504-84D4-AFBB886F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433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Location–lot balance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CE62B-9562-4259-A01C-1FBC8331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Renovation optionality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0B4B6-C17A-4944-98A6-002CD9AA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rPr>
              <a:t>H1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8B38E-7769-4557-A8DE-2F025A99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96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H2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4C0CC-AA0C-4E4D-A18A-19A05A64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96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rPr>
              <a:t>H3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B98D7-6682-4B2B-A969-AD648778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Evidence → trade-offs → weighted buyer fit →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159502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594CE0-4107-41B2-B098-04DDA880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DECISION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E4F6B-AB62-4C53-8F74-EBCC0042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Three hypotheses turn the buyer brief into a testable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16B4B-04DB-40C3-BE5F-FBE20A6A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D8BA9-CD10-4EF7-B539-67672406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EC3AC-A6FB-418F-8B74-55D5C01F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DC171-D82C-4C3A-8314-EC3FD991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KING COUNTY HOUSING EDA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F02A8-6CF4-4174-B21A-88511BF4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rPr>
              <a:t>BUYER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942CB-F04D-4471-B225-605B1749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A3C9A-1687-4B0D-BA0E-C040BB69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Unlimited budget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F227-E36B-4ADD-8C1F-E33AC804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Optimize fit, not price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09D84-1A62-4F31-99D5-932E68EA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85950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27060-A54D-4E7D-BB76-3E1108A0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002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Historic character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295AB-FA56-4B6F-9DAD-E73BD508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Built before 1945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7C283-860E-4F7D-8F9D-EB61935F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E3386-AD27-4EBA-85B3-88C6FC05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Large 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14EA5-B755-49B5-B8D0-71A7C23A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336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Land is a priority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7AB81-7D93-4E01-BC66-E9A383B9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85950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1894F-BEF1-447C-BDD9-D0E6F167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4+ bathrooms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B1A43-A531-4D1A-B77E-4E53FB0A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336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Non-negotiable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8821F-24F6-4399-B61D-F4C06149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85950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24750-9D17-485E-A7A4-E1BD0C61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No waterfront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14FEF-53B2-4041-A4DB-2B3E390D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336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Explicit exclusion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E029C-A128-474C-9963-C26C8640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rPr>
              <a:t>H1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10864F-0A77-46A9-AC3F-1BD619BF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385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Premium features drive the highest sale prices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EB787E-472B-45D4-A12A-42300BF4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623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Quality should explain the price premium.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5EA50-FA88-419B-8F08-F8A91234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H2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F6253C-6B1B-4144-8C97-01658758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14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Location creates a lot-size trade-off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241A03-BB11-4D8C-A0D8-449E4478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38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Golf access should be balanced against land.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9C921E-F973-479D-82F5-7503F2B0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rPr>
              <a:t>H3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7EC442-DA6D-4B54-AA61-DA67522A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91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Under-featured historic homes sell at a discount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EA59A1-B1AA-41B8-9A17-897A0551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149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Renovation can create a lower-cost alternative.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68C457-9460-467A-8BA9-FAAD593A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428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0C2738-322E-47FA-8CDD-3899F3DC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385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Decision rule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CF93B2-3D52-4672-B0D2-1A715DE5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57650"/>
            <a:ext cx="1952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9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Choose the home with the strongest overall buyer fit—not simply the lowest price or the shortest golf distance.</a:t>
            </a:r>
          </a:p>
        </p:txBody>
      </p:sp>
    </p:spTree>
    <p:extLst>
      <p:ext uri="{BB962C8B-B14F-4D97-AF65-F5344CB8AC3E}">
        <p14:creationId xmlns:p14="http://schemas.microsoft.com/office/powerpoint/2010/main" val="111277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3400E-8B0D-4974-B98D-8EC12352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HYPOTHESIS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30921-4A60-400C-AF54-831DAD6C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Premium features correspond with higher median prices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31AE0-383F-41C2-8612-88C9624B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6EB5D-6213-4DE2-ABE2-D67483C9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FF09D-953C-4808-AE04-3E31F37D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9E3E7-F0DE-4DA6-9CF6-565814D5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KING COUNTY HOUSING EDA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d15350c9924e0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79997-F870-40DE-8CAD-8FA72C1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C9814-9FCB-498C-86D7-2D96D613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rPr>
              <a:t>$2.30M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5D77B-E1BD-44B7-8173-D235ADA7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median price when all four premium criteria are present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DCB55-8518-4ABD-9BD7-B2A92A15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AADCD-1785-44B9-9BDD-B0D7EDCD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46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Median price rises at every step and accelerates sharply at four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E240F-1D5B-451D-8A7F-E23F3959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24500"/>
            <a:ext cx="1714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36062-47F8-4A65-BA41-C23CDF70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43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H1 SUPPORTED</a:t>
            </a:r>
          </a:p>
        </p:txBody>
      </p:sp>
    </p:spTree>
    <p:extLst>
      <p:ext uri="{BB962C8B-B14F-4D97-AF65-F5344CB8AC3E}">
        <p14:creationId xmlns:p14="http://schemas.microsoft.com/office/powerpoint/2010/main" val="1677879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DF5D8-27C2-4ECA-B7BA-8E4FAE55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HYPOTHESIS 1 — SHORTLIST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F3A83-C98B-4FC5-9F88-2453840A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The recommended home is the clear premium outlier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EF8EF-7C04-4E61-A4B1-DE3C5076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99FC4-1A97-4AE2-9866-6FB3B4F1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DE0A5-C8A2-4B38-B5DD-F430EBA5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9D17E-57C4-45A2-86AB-38288522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KING COUNTY HOUSING EDA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19125" y="1619250"/>
          <a:ext xmlns:a="http://schemas.openxmlformats.org/drawingml/2006/main" cx="7858125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2e9b596307462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35AFA-F363-4916-9BED-1C8468AE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66875"/>
            <a:ext cx="2762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D8677-17AA-42BE-AFC9-1D50B39A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57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House 6762700020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9BA41-60BD-4C93-93C8-59D28651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75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rPr>
              <a:t>$7.70M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08B38-E2EE-4E4A-ADEA-D4DEA344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12,050 sq ft living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Grade 13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27,600 sq ft 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E0283-DD32-4040-9E75-6A9EB0C4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481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8391A-A3BA-4402-81E7-0E5A4190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5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Its price is justified only if its premium specifications also win the buyer-fit comparison.</a:t>
            </a:r>
          </a:p>
        </p:txBody>
      </p:sp>
    </p:spTree>
    <p:extLst>
      <p:ext uri="{BB962C8B-B14F-4D97-AF65-F5344CB8AC3E}">
        <p14:creationId xmlns:p14="http://schemas.microsoft.com/office/powerpoint/2010/main" val="14403457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793AB-415E-41E7-B9C0-0899B95E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HYPOTHESIS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818E3-CFAB-4119-A6D6-31B04380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Closer-in locations tend to trade land for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B62ED-AAD5-4C83-A136-FA8DEAB5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D8312-8EBF-4190-AA8E-D0B270BA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B9033-B9E3-4CC3-A473-1519D69A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FBAC2-2643-46C8-A77C-9F02ED9E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KING COUNTY HOUSING EDA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7143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568813b00e434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2035A-1A57-4BCD-926C-EBD530E6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30061-C3C9-4D05-8740-A1518F06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00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Market pattern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A1F66-32A4-4F06-8DB6-EDF5906F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0"/>
            <a:ext cx="2619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Median lot size increases as homes move away from the urban core.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82BC3-E4D3-49BF-9A6C-7F8C6935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rPr>
              <a:t>Decision implication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1809F-7269-4702-A6CC-DF8D10DF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38625"/>
            <a:ext cx="261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7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The right property must find a workable point between proximity and land—not maximize either one alone.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CB1EB-F5E9-4934-B91C-53082023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72125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6C917-5945-4D5E-9F8D-63B34F55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911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H2 TO TEST ON SHORTLIST</a:t>
            </a:r>
          </a:p>
        </p:txBody>
      </p:sp>
    </p:spTree>
    <p:extLst>
      <p:ext uri="{BB962C8B-B14F-4D97-AF65-F5344CB8AC3E}">
        <p14:creationId xmlns:p14="http://schemas.microsoft.com/office/powerpoint/2010/main" val="16403547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907AB-0FD8-4115-8C2D-3A9E9A8B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HYPOTHESIS 2 — SHORTLIST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A4387-D4D0-4D8B-8446-E99A9F88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Land advantage is concentrated in only a few candidates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A1DA2-F8D9-40A7-905F-544A7208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37BF8-28C8-4F03-ABA1-F9EDC68A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AFA1E-EAF0-4E62-A610-9D6A01E1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7D2F9-7B6A-452C-AD15-EA1EB6B3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KING COUNTY HOUSING EDA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2f9e5f5fb49a6"/>
          <a:stretch xmlns:a="http://schemas.openxmlformats.org/drawingml/2006/main"/>
        </p:blipFill>
        <p:spPr>
          <a:xfrm xmlns:a="http://schemas.openxmlformats.org/drawingml/2006/main">
            <a:off x="534458" y="1352550"/>
            <a:ext cx="8551333" cy="4810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34B96-5D83-40FF-8487-64C6899C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1925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7851E-F5EF-4D7A-9399-9A1C913F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28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The trade-off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C852C-1C83-4FF8-9604-8E3EDA9D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rPr>
              <a:t>43,838 sq 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DD54B-130D-4BCC-8EC8-C6359819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Largest lot: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5249800010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9A465-5F9F-4F74-9E62-3B1F5CBA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rPr>
              <a:t>27,600 sq 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DC876-5D0D-4A53-8806-58C2569D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766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Recommended home: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second-largest 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20FB4-E39D-479F-9C0E-EC1BC599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3387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3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The recommendation preserves substantial land without accepting the golf-access penalty of the largest lot.</a:t>
            </a:r>
          </a:p>
        </p:txBody>
      </p:sp>
    </p:spTree>
    <p:extLst>
      <p:ext uri="{BB962C8B-B14F-4D97-AF65-F5344CB8AC3E}">
        <p14:creationId xmlns:p14="http://schemas.microsoft.com/office/powerpoint/2010/main" val="1439032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48FFD-2945-406E-9F26-48B8E088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HYPOTHESIS 2 — SHORTLIST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35F1E-D662-4B1A-86E9-3AFA0780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The closest golf homes sacrifice space and premium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BF393-D561-444B-B165-13A2E188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B80A1-BC7B-4AB3-B10A-2B7FE0BC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20333-71F9-4AA5-987E-CC3E4FB0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037A8-D968-4227-BAA4-C8B0D84C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KING COUNTY HOUSING EDA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80c88725245c7"/>
          <a:stretch xmlns:a="http://schemas.openxmlformats.org/drawingml/2006/main"/>
        </p:blipFill>
        <p:spPr>
          <a:xfrm xmlns:a="http://schemas.openxmlformats.org/drawingml/2006/main">
            <a:off x="534458" y="1352550"/>
            <a:ext cx="8551333" cy="4810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9954C-EB93-4E0C-B899-3C8A78A7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1925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D3F29-71A9-4298-9391-3FA2AC01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rPr>
              <a:t>Recommended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3D97F-2D88-4C9C-B8EA-83890806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240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2.49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4068A-2C09-44C4-A348-ED220756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Balanced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A491E-7A0B-4525-9CB0-5D16717D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Closest homes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EF710-3B9D-4774-BEA6-B2CE564D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0.39–0.53 km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39C20-4F91-4A69-BA34-BF9FFC48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But they offer only 11,765–13,431 sq ft lots and smaller living areas. Proximity alone does not satisfy the brief.</a:t>
            </a:r>
          </a:p>
        </p:txBody>
      </p:sp>
    </p:spTree>
    <p:extLst>
      <p:ext uri="{BB962C8B-B14F-4D97-AF65-F5344CB8AC3E}">
        <p14:creationId xmlns:p14="http://schemas.microsoft.com/office/powerpoint/2010/main" val="7947886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7C2D2-A9CA-42C8-B343-C4F6607F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HYPOTHESIS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0DE24-F840-47D3-8345-6CFF6D43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Renovation candidates offer a meaningful price discount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7E4F0-EB27-4A4B-895A-76CD4E4D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1DDF2-EFDA-428B-9538-DE6CBE0F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2CCD8-02E2-49B0-8C4E-1B8BDAC9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E65C0-39A6-4E51-8CB6-9B56D04E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KING COUNTY HOUSING EDA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857250" y="1952625"/>
          <a:ext xmlns:a="http://schemas.openxmlformats.org/drawingml/2006/main" cx="6667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d2e01d9a494aa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D912E-98F2-412D-B14D-9C6B71E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333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E2B84-9610-4364-8579-4F2FA419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rPr>
              <a:t>48% lower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DCEC9-D1FE-4815-B216-ED0DB68A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271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median price per sq ft for the renovation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B9FA5-E694-449C-B151-31BC831A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433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Decision implication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90D0A-69F0-423D-AAB4-469A1AE0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58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The renovation path is economically attractive, but it optimizes value—not the buyer’s stated preference for premium quality.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49E49-8D81-4E19-8D04-EA99E459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15000"/>
            <a:ext cx="1762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847AD-2B73-414C-ABE1-6C877B51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7340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H3 SUPPORTED</a:t>
            </a:r>
          </a:p>
        </p:txBody>
      </p:sp>
    </p:spTree>
    <p:extLst>
      <p:ext uri="{BB962C8B-B14F-4D97-AF65-F5344CB8AC3E}">
        <p14:creationId xmlns:p14="http://schemas.microsoft.com/office/powerpoint/2010/main" val="11304743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D5A09-AB11-466E-B2B3-A3B046AD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DECISION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BCC00-37AD-488B-B05E-1F180AB2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Weighted buyer fit resolves the competing trade-offs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24D32-B8CC-479B-B5BE-6D3EF672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B2DFD-9A19-495A-BA9B-E5A91D8A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1A650-2AA7-475E-BA46-D598BF70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7909E-BC34-48B0-AD83-8F31E5E8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KING COUNTY HOUSING EDA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8ff1f7fac424f"/>
          <a:stretch xmlns:a="http://schemas.openxmlformats.org/drawingml/2006/main"/>
        </p:blipFill>
        <p:spPr>
          <a:xfrm xmlns:a="http://schemas.openxmlformats.org/drawingml/2006/main">
            <a:off x="552450" y="1509117"/>
            <a:ext cx="8096250" cy="455414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A2619-CB18-4E58-9236-C3F11802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2714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25175-6B0F-4068-ABFE-52FB2F53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rPr>
              <a:t>0.79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4584A-BDA1-4108-8057-9018B2C6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622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1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Highest overall buyer 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C5B53-75E2-4A22-807A-E94FCCD4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52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rPr>
              <a:t>+0.13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A1DAC-855A-47A0-9240-160EA9C7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lead over the next candidate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CB054-AC67-414C-8A05-EE7C8BC8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43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Weights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6146D-0592-401B-8803-24823209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577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Lot 30%  •  Golf 25%</a:t>
            </a:r>
          </a:p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Living 20%  •  Grade 15%</a:t>
            </a:r>
          </a:p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Condition 10%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446E7-4CC6-49F6-BFB9-CB15922C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768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A transparent decision aid—not a market valuation model.</a:t>
            </a:r>
          </a:p>
        </p:txBody>
      </p:sp>
    </p:spTree>
    <p:extLst>
      <p:ext uri="{BB962C8B-B14F-4D97-AF65-F5344CB8AC3E}">
        <p14:creationId xmlns:p14="http://schemas.microsoft.com/office/powerpoint/2010/main" val="18389089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2A00B-723B-4082-86FC-5688637B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RECOMMENDED PROPERTY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25482-B4E3-4199-BF6B-8CC6B354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The selected home sits within practical reach of the golf club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F5793-AC15-4E49-891D-8B36E16A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DCEED-33B5-44ED-B125-40923667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F3D48-F1A9-4A77-9345-979FA67B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74CE3-2BEA-46E8-86E4-5B4977EC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KING COUNTY HOUSING EDA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84a2ceb6345fc"/>
          <a:stretch xmlns:a="http://schemas.openxmlformats.org/drawingml/2006/main"/>
        </p:blipFill>
        <p:spPr>
          <a:xfrm xmlns:a="http://schemas.openxmlformats.org/drawingml/2006/main">
            <a:off x="609600" y="1390055"/>
            <a:ext cx="8096250" cy="455414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0F103-CB23-453C-A991-290A9D02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619375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2D9D2-D301-4788-B22C-64907205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5737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House 6762700020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6957F-9714-49A3-B106-EB4C45F8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574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ZIP 98102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8127E-C36B-40AC-A5B2-F9816FCD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241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rPr>
              <a:t>2.49 km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603BB-D674-49B4-8BEB-2C8A41B9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432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straight-line distance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DF4C7-C861-493A-99B0-D299287A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481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Location verdict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AA21B-DE94-49DF-B1A2-B2F5D665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143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Not golf-adjacent, but close enough to preserve access while retaining a 27,600 sq ft lot.</a:t>
            </a:r>
          </a:p>
        </p:txBody>
      </p:sp>
    </p:spTree>
    <p:extLst>
      <p:ext uri="{BB962C8B-B14F-4D97-AF65-F5344CB8AC3E}">
        <p14:creationId xmlns:p14="http://schemas.microsoft.com/office/powerpoint/2010/main" val="15036925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64ED4B2-9974-44FE-B536-362BDB2E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EVIDENCE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43809-5ECC-4B45-9A7F-CBBC2A9F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926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Each chart answers a specific hypothesis—and a decision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628C5-90E9-4D38-8218-1846075D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15DDB-356B-4B59-8DC0-A1C8343E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EB1F5-D77F-44FD-BB93-96F3E3AE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C6D98-2727-4171-8464-AA1B8DB7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KING COUNTY HOUSING EDA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DF85B-0A11-43B1-B10F-4F3D4B61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7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E699C-C7E8-4B4E-B430-9FE79E97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90269-AD6E-46EF-B9D0-85648074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0966B-73E9-4975-9DB3-D58EBAFE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14475"/>
            <a:ext cx="2276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Chart /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F23AF-F3CA-452D-BB4C-6EBB7EB4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476375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E217D-1F75-4833-97A0-E5FF83AE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514475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D2A56-9923-4AC0-981B-2EFBB33D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76375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2DE5C-36A0-4DB5-AFE2-A1C4F592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144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What the graph shows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7630D-4A3C-4344-B3CA-D53F57B3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76375"/>
            <a:ext cx="3105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DB73D-2DED-49EC-8577-395215EF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144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How it changes the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17D21-36DE-427F-863A-19B45711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72F62-1503-4149-BD93-7C9F8968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1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rPr>
              <a:t>H1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2A2DB-72AB-4FD1-8093-D4252271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76425"/>
            <a:ext cx="2428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54C0D-551B-4BAA-9EBF-CAEF1667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24050"/>
            <a:ext cx="2276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Premium-criteria median price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BA444-0E53-466B-ABB2-EF7FB41C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76425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8F238-7648-458A-A3F2-6B1064F8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924050"/>
            <a:ext cx="1133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Supported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586D46-6290-4DC5-B6B5-F3DA09C2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76425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99DE71-C973-46D5-92C5-B7E7AC68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240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$0.32M → $2.30M as criteria rise from 0 to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F59951-F37A-46B6-8D3C-32F54633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76425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6FD2CC-3D95-43A7-9C4B-B7D4CF5C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Premium quality merits a higher price.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7508BF-352E-49D9-B90F-CFE6BB42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D163A0-E984-4D2B-91E9-3763B27D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1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rPr>
              <a:t>H1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5E1BFE-8BA7-4BDB-BB4A-D4DBF3EF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43175"/>
            <a:ext cx="2428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CF25ED-0A61-4AEF-B37B-C74E4A5D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90800"/>
            <a:ext cx="2276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Qualified-home price comparison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C0F1B-89AD-49C8-94AD-7BCD46ED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43175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C44FE7-FDB5-4D37-8568-96D1613D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590800"/>
            <a:ext cx="1133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Supported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ED2305-14EC-4A89-B113-CD412232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43175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3B938F-FB20-488E-8A44-38BB98A2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9080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$7.70M recommendation is the premium outlier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A77F01-1CD8-4A1F-855E-77B4F65E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43175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A780CB-9844-446B-941A-D312680E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908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Validate price through specifications and fit.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3075EB-115B-4868-926A-64A0975A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C04EDB-AC80-4FE3-B829-855D305F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1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H2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3E43EC-1531-4907-82F9-6181E17B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9925"/>
            <a:ext cx="2428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5C06C2-6610-44A6-AC04-5FF0BA4D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57550"/>
            <a:ext cx="2276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Distance vs. median lot size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B3F2A3-9D05-4C80-8E20-B72BA2AE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09925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BF658E-D9FB-490D-97A2-A7E67FC1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257550"/>
            <a:ext cx="1133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Supported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8EDAC5-2C90-4B17-AD9E-4F9A3B72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9925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A0E298-5A6C-4021-A301-0183F26B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Closer-in homes generally have smaller lots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56D708-36BB-4E59-B078-5A8F4497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9925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74C6B5-6696-46BF-9467-22A1F965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575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Expect a proximity–land trade-off.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77040A-C1A8-43B6-B3FF-0767FE49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E71B58-C231-4CB4-9B3F-3B2AA8A8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1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H2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AB3F13-DD98-473A-AA5E-F476D3BB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76675"/>
            <a:ext cx="2428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D4772C-5049-4965-BC02-0819F0D8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24300"/>
            <a:ext cx="2276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Candidate lot + golf distance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CC9F95-6C9C-4718-A412-8DE50702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76675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2E1BF2-8656-4DE6-B4BE-FCA9BC6C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924300"/>
            <a:ext cx="1133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Supported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1D9007-9F60-4201-901B-BF6DA38C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76675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AE9EC9-5996-476C-8E5B-A3E893C3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2430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27,600 sq ft at 2.49 km balances both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927611-22DC-4070-A198-DC3B7CB0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76675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1BBE42-AA6C-4338-B4CE-B870556C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243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Choose balance, not a single-variable winner.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64FD86-BC91-4F11-B722-4959C6F2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AEED0C-B1E8-4DB9-82B7-FBAFA7DC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1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rPr>
              <a:t>H3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638260-5278-4575-9A3B-97BA1447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43425"/>
            <a:ext cx="2428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84610B-F7C7-47FC-9320-52F2471A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2276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Ready vs. renovation $/sq ft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EE5F84-DB40-407B-ABBD-5C767021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543425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777C26D-032C-49C4-9537-FEA5A9B8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591050"/>
            <a:ext cx="1133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Supported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FE1031-D118-40FB-8842-794096B8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43425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8EAC5E-854D-40C0-AFF9-BE93B3F9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910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$470 vs. $247 per sq ft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DDD0759-DEA0-4622-987F-B4D3E547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43425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0826421-BD6F-4781-A1B0-AF54DEA5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910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Keep renovation as the value alternative.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671163-6F86-4A5F-B3C1-6141E09F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7977DF8-8EE8-49D9-98A7-AA874F12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1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Synthesis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A6600B5-A9A4-40A5-8EA8-99C06B4A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0175"/>
            <a:ext cx="2428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EF51A05-522F-42A0-B068-4AC9881B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57800"/>
            <a:ext cx="2276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Weighted buyer fit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C1BBDE0-3C6F-46A6-9B6F-3F3432E5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210175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C590009-67E9-4C9E-AEB6-6185A336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257800"/>
            <a:ext cx="1133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Decision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DE0DFDE-4F6E-4933-9AFA-7A18D66C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0175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D83F428-2BC7-427E-BC8E-4AA7F92C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0.79, ahead of 0.66 next-best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D5B1F23-F76C-4DD1-8E3E-E65789F7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10175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2D6D5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B3B548A-187C-4283-88F6-043B9497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578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Recommend house 6762700020.</a:t>
            </a:r>
          </a:p>
        </p:txBody>
      </p:sp>
    </p:spTree>
    <p:extLst>
      <p:ext uri="{BB962C8B-B14F-4D97-AF65-F5344CB8AC3E}">
        <p14:creationId xmlns:p14="http://schemas.microsoft.com/office/powerpoint/2010/main" val="8460674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8CD817-5421-4B44-A6B1-0C679CE8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FINAL 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0FD23-D176-42B6-8605-84FB5207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02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Choose the strongest overall fit—not the cheapest single-metric winner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54D5E-AA1F-40BD-B0EA-008EED2E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603B5-F0C4-416D-B25B-FCC69509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76BA0-D78A-4F3C-AA6F-74772157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15F7F-FE48-4DF7-9A6C-A705C0A7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KING COUNTY HOUSING EDA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38318-D0C1-4F6D-985C-A4589004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04825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7E46E-8BC7-45ED-9547-4B80207C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rPr>
              <a:t>RECOMMENDED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DE470-027A-47C7-8A77-B9A9EA91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House 6762700020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BF5B6-AE20-46E1-8CFD-2A0C0264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rPr>
              <a:t>Buyer fit 0.79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7F356-E938-4A78-8E06-1C1649E2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93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FA775-BE78-43BA-AD14-281E6F01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86125"/>
            <a:ext cx="376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Largest living area: 12,050 sq 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15D79-A008-47EC-907A-956A1582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93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164AA-C9D5-4286-8609-7EE23A72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43325"/>
            <a:ext cx="376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Top grade: 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56CD8-AD37-4F56-AB0A-899F8364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93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2CCE7-BD33-4644-8D9B-B7DE37C6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00525"/>
            <a:ext cx="376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Second-largest lot: 27,600 sq 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525BD-1580-4F1C-8AF1-589A5130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93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F7D71-745E-4E36-961C-A2B5691D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57725"/>
            <a:ext cx="376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Practical golf access: 2.49 km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257E3-560E-4286-AEDF-8FF91983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716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Why the premium is rational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BBD1C-4D4E-48C2-B663-C009A521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71675"/>
            <a:ext cx="5381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97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The $7.70M price buys the only candidate that leads on overall fit while combining exceptional living area, top grade, substantial land and acceptable golf access.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65692-ACC1-44EE-AD97-DD71653D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86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rPr>
              <a:t>Alternatives by priority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F2E568-152A-42B3-9E3C-14DFD98A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861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B88B43"/>
                </a:solidFill>
                <a:latin typeface="Bitstream Charter"/>
                <a:ea typeface="Bitstream Charter"/>
                <a:cs typeface="Bitstream Charter"/>
              </a:rPr>
              <a:t>Land-first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F287A7-EB22-451D-93B9-D33C8E75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86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5249800010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EB178A-88AB-4CD7-A8E9-C677EB4E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3382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43,838 sq ft lot • 7.24 km to golf • fit 0.66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EBEF52-0A3D-480B-A69D-EF7E9C5A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719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6878A"/>
                </a:solidFill>
                <a:latin typeface="Bitstream Charter"/>
                <a:ea typeface="Bitstream Charter"/>
                <a:cs typeface="Bitstream Charter"/>
              </a:rPr>
              <a:t>Balanced lower-cost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41B741-81E4-45AD-B0D6-740D678C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719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1346300150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432337-356D-4DB3-B76C-E4C64F13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1962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2.00 km to golf • 7,710 sq ft living • fit 0.62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B52BB-7612-4BA5-B21D-EA49FE75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577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D96545"/>
                </a:solidFill>
                <a:latin typeface="Bitstream Charter"/>
                <a:ea typeface="Bitstream Charter"/>
                <a:cs typeface="Bitstream Charter"/>
              </a:rPr>
              <a:t>Golf-first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EA5876-6299-4BBC-86BC-3B3D4054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57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1118000320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EF0CC1-16A6-4A8A-BD09-0FDCB1C6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30542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D6D78"/>
                </a:solidFill>
                <a:latin typeface="Bitstream Charter"/>
                <a:ea typeface="Bitstream Charter"/>
                <a:cs typeface="Bitstream Charter"/>
              </a:rPr>
              <a:t>0.39 km to golf • smaller lot/living • fit 0.49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2615CC-72D4-4E14-80FD-F75D28D3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7912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2B3A"/>
                </a:solidFill>
                <a:latin typeface="Bitstream Charter"/>
                <a:ea typeface="Bitstream Charter"/>
                <a:cs typeface="Bitstream Charter"/>
              </a:rPr>
              <a:t>Decision: prioritize the rarest complete package; use alternatives only if the buyer changes the priority hierarchy.</a:t>
            </a:r>
          </a:p>
        </p:txBody>
      </p:sp>
    </p:spTree>
    <p:extLst>
      <p:ext uri="{BB962C8B-B14F-4D97-AF65-F5344CB8AC3E}">
        <p14:creationId xmlns:p14="http://schemas.microsoft.com/office/powerpoint/2010/main" val="307120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2026-09-18T11:52:01.7730000Z</dcterms:created>
  <dcterms:modified xsi:type="dcterms:W3CDTF">2026-09-18T11:52:01.7730000Z</dcterms:modified>
</coreProperties>
</file>