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1ad78cf1204138" /><Relationship Type="http://schemas.openxmlformats.org/officeDocument/2006/relationships/extended-properties" Target="/docProps/app.xml" Id="R29c4ec4313a14179" /><Relationship Type="http://schemas.openxmlformats.org/officeDocument/2006/relationships/officeDocument" Target="/ppt/presentation.xml" Id="R2024c9418cf34246" /></Relationships>
</file>

<file path=ppt/presentation.xml><?xml version="1.0" encoding="utf-8"?>
<p:presentation xmlns:p="http://schemas.openxmlformats.org/presentationml/2006/main">
  <p:sldMasterIdLst>
    <p:sldMasterId xmlns:r="http://schemas.openxmlformats.org/officeDocument/2006/relationships" id="2147483648" r:id="R22a9a9c1d82c48dd"/>
  </p:sldMasterIdLst>
  <p:notesMasterIdLst>
    <p:notesMasterId xmlns:r="http://schemas.openxmlformats.org/officeDocument/2006/relationships" r:id="R941c0e4a02a74764"/>
  </p:notesMasterIdLst>
  <p:sldIdLst>
    <p:sldId xmlns:r="http://schemas.openxmlformats.org/officeDocument/2006/relationships" id="256" r:id="R634a3e761d2d4079"/>
    <p:sldId xmlns:r="http://schemas.openxmlformats.org/officeDocument/2006/relationships" id="257" r:id="Rfe86ec4f3ba143e7"/>
    <p:sldId xmlns:r="http://schemas.openxmlformats.org/officeDocument/2006/relationships" id="258" r:id="Rf1e98b3b33b54f42"/>
    <p:sldId xmlns:r="http://schemas.openxmlformats.org/officeDocument/2006/relationships" id="259" r:id="Rf61ea668e13945c9"/>
    <p:sldId xmlns:r="http://schemas.openxmlformats.org/officeDocument/2006/relationships" id="260" r:id="R07fecdfab46f4d45"/>
    <p:sldId xmlns:r="http://schemas.openxmlformats.org/officeDocument/2006/relationships" id="261" r:id="R5c7d1c0ad9444f54"/>
    <p:sldId xmlns:r="http://schemas.openxmlformats.org/officeDocument/2006/relationships" id="262" r:id="Rcc076bac7d97456a"/>
    <p:sldId xmlns:r="http://schemas.openxmlformats.org/officeDocument/2006/relationships" id="263" r:id="Rab89c870f76f4d1b"/>
    <p:sldId xmlns:r="http://schemas.openxmlformats.org/officeDocument/2006/relationships" id="264" r:id="R4a98614741724c79"/>
    <p:sldId xmlns:r="http://schemas.openxmlformats.org/officeDocument/2006/relationships" id="265" r:id="Rdc2d41835edb43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aba86f608045ab" /><Relationship Type="http://schemas.openxmlformats.org/officeDocument/2006/relationships/slideMaster" Target="/ppt/slideMasters/slideMaster1.xml" Id="R22a9a9c1d82c48dd" /><Relationship Type="http://schemas.openxmlformats.org/officeDocument/2006/relationships/notesMaster" Target="/ppt/notesMasters/notesMaster1.xml" Id="R941c0e4a02a74764" /><Relationship Type="http://schemas.openxmlformats.org/officeDocument/2006/relationships/presProps" Target="/ppt/presProps.xml" Id="Ree72a5c9e253418d" /><Relationship Type="http://schemas.openxmlformats.org/officeDocument/2006/relationships/tableStyles" Target="/ppt/tableStyles.xml" Id="R73f516977f4a45e4" /><Relationship Type="http://schemas.openxmlformats.org/officeDocument/2006/relationships/slide" Target="/ppt/slides/slide1.xml" Id="R634a3e761d2d4079" /><Relationship Type="http://schemas.openxmlformats.org/officeDocument/2006/relationships/slide" Target="/ppt/slides/slide2.xml" Id="Rfe86ec4f3ba143e7" /><Relationship Type="http://schemas.openxmlformats.org/officeDocument/2006/relationships/slide" Target="/ppt/slides/slide3.xml" Id="Rf1e98b3b33b54f42" /><Relationship Type="http://schemas.openxmlformats.org/officeDocument/2006/relationships/slide" Target="/ppt/slides/slide4.xml" Id="Rf61ea668e13945c9" /><Relationship Type="http://schemas.openxmlformats.org/officeDocument/2006/relationships/slide" Target="/ppt/slides/slide5.xml" Id="R07fecdfab46f4d45" /><Relationship Type="http://schemas.openxmlformats.org/officeDocument/2006/relationships/slide" Target="/ppt/slides/slide6.xml" Id="R5c7d1c0ad9444f54" /><Relationship Type="http://schemas.openxmlformats.org/officeDocument/2006/relationships/slide" Target="/ppt/slides/slide7.xml" Id="Rcc076bac7d97456a" /><Relationship Type="http://schemas.openxmlformats.org/officeDocument/2006/relationships/slide" Target="/ppt/slides/slide8.xml" Id="Rab89c870f76f4d1b" /><Relationship Type="http://schemas.openxmlformats.org/officeDocument/2006/relationships/slide" Target="/ppt/slides/slide9.xml" Id="R4a98614741724c79" /><Relationship Type="http://schemas.openxmlformats.org/officeDocument/2006/relationships/slide" Target="/ppt/slides/slide10.xml" Id="Rdc2d41835edb43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239b019f3d42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3ae8903ac54f7d" /><Relationship Type="http://schemas.openxmlformats.org/officeDocument/2006/relationships/notesMaster" Target="/ppt/notesMasters/notesMaster1.xml" Id="R8a52c143c33246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33a85dbfd42c1" /><Relationship Type="http://schemas.openxmlformats.org/officeDocument/2006/relationships/notesMaster" Target="/ppt/notesMasters/notesMaster1.xml" Id="Rbea5c82797eb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8cd8d7de3d4d19" /><Relationship Type="http://schemas.openxmlformats.org/officeDocument/2006/relationships/notesMaster" Target="/ppt/notesMasters/notesMaster1.xml" Id="Rd175ce164be44a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eea9d930374be3" /><Relationship Type="http://schemas.openxmlformats.org/officeDocument/2006/relationships/notesMaster" Target="/ppt/notesMasters/notesMaster1.xml" Id="R71642ef1eb6940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093e8aa1c645e6" /><Relationship Type="http://schemas.openxmlformats.org/officeDocument/2006/relationships/notesMaster" Target="/ppt/notesMasters/notesMaster1.xml" Id="R66aab3d25a0f4e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7a0071964b481a" /><Relationship Type="http://schemas.openxmlformats.org/officeDocument/2006/relationships/notesMaster" Target="/ppt/notesMasters/notesMaster1.xml" Id="Rb6bc7c9994b846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8bcc198ed24c3b" /><Relationship Type="http://schemas.openxmlformats.org/officeDocument/2006/relationships/notesMaster" Target="/ppt/notesMasters/notesMaster1.xml" Id="R8b77359379ce48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1bfbe781e64b5d" /><Relationship Type="http://schemas.openxmlformats.org/officeDocument/2006/relationships/notesMaster" Target="/ppt/notesMasters/notesMaster1.xml" Id="R017421db16b746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c49dd3e86d4c6a" /><Relationship Type="http://schemas.openxmlformats.org/officeDocument/2006/relationships/notesMaster" Target="/ppt/notesMasters/notesMaster1.xml" Id="R3356785758cb41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46895e807146b3" /><Relationship Type="http://schemas.openxmlformats.org/officeDocument/2006/relationships/notesMaster" Target="/ppt/notesMasters/notesMaster1.xml" Id="R29afca17120844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King County housing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1: Premium features drive the highest sale prices. The horizontal axis shows the number of buyer criteria met, from zero to four. This chart operationalizes the premium combination through the four measurable buyer criteria. Values reconstructed from the user-provided chart and should be treated as approximate.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reconstructed from the user-provided ranking chart and are approximate.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Property: 47.6298, -122.3230. Broadmoor Golf Club coordinate used: approximately 47.6400, -122.2920. Haversine straight-line distance: about 1.6 miles / 2.6 km. Map © OpenStreetMap contributors. Broadmoor Golf Club address: 2340 Broadmoor Drive E, Seattle, WA 98112.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2: Urban and golf-adjacent locations may limit lot size. The distance chart supports the urban-core component. It does not isolate or directly test golf adjacency. Chart values reconstructed from the user-provided chart and are approximate.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3: Under-featured historic homes may sell at a discount. Values reconstructed from the user-provided chart. The observed discount is approximate and excludes renovation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slide maps each chart to its hypothesis, explains the primary recommendation and identifies the main alternatives. Prices and group values come from the user-provided analysis and remain approximate.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538db3934d42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066b2ab49949b7" /><Relationship Type="http://schemas.openxmlformats.org/officeDocument/2006/relationships/slideLayout" Target="/ppt/slideLayouts/slideLayout1.xml" Id="R37e28e0d591f4c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e28e0d591f4c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e00d43273e473a" /><Relationship Type="http://schemas.openxmlformats.org/officeDocument/2006/relationships/notesSlide" Target="/ppt/notesSlides/notesSlide1.xml" Id="Rb0481cb9eea54c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47dbf2521f4b85" /><Relationship Type="http://schemas.openxmlformats.org/officeDocument/2006/relationships/notesSlide" Target="/ppt/notesSlides/notesSlide2.xml" Id="Rd9431af4131044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98c7fbc39f48b1" /><Relationship Type="http://schemas.openxmlformats.org/officeDocument/2006/relationships/chart" Target="/ppt/slides/charts/chart1.xml" Id="Rc40a4236d1674e8c" /><Relationship Type="http://schemas.openxmlformats.org/officeDocument/2006/relationships/notesSlide" Target="/ppt/notesSlides/notesSlide3.xml" Id="R4846300c30de42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580c0099ad4566" /><Relationship Type="http://schemas.openxmlformats.org/officeDocument/2006/relationships/chart" Target="/ppt/slides/charts/chart2.xml" Id="R197804e00ab047ef" /><Relationship Type="http://schemas.openxmlformats.org/officeDocument/2006/relationships/notesSlide" Target="/ppt/notesSlides/notesSlide4.xml" Id="Rfd261bf013bd4e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23327273c849f9" /><Relationship Type="http://schemas.openxmlformats.org/officeDocument/2006/relationships/image" Target="/ppt/media/image.png" Id="Rbf93e741422d4382" /><Relationship Type="http://schemas.openxmlformats.org/officeDocument/2006/relationships/notesSlide" Target="/ppt/notesSlides/notesSlide5.xml" Id="R1a216cf6f7c648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bdabda5ad94e20" /><Relationship Type="http://schemas.openxmlformats.org/officeDocument/2006/relationships/chart" Target="/ppt/slides/charts/chart3.xml" Id="Ra8cebc1a95514427" /><Relationship Type="http://schemas.openxmlformats.org/officeDocument/2006/relationships/notesSlide" Target="/ppt/notesSlides/notesSlide6.xml" Id="R1491404557d941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896daf23b543cc" /><Relationship Type="http://schemas.openxmlformats.org/officeDocument/2006/relationships/chart" Target="/ppt/slides/charts/chart4.xml" Id="R5bd4119f5d964b12" /><Relationship Type="http://schemas.openxmlformats.org/officeDocument/2006/relationships/notesSlide" Target="/ppt/notesSlides/notesSlide7.xml" Id="R78985dd1284e4a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2f9e94d06b4165" /><Relationship Type="http://schemas.openxmlformats.org/officeDocument/2006/relationships/notesSlide" Target="/ppt/notesSlides/notesSlide8.xml" Id="Rb60d7185465d45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9aaed9956d411c" /><Relationship Type="http://schemas.openxmlformats.org/officeDocument/2006/relationships/notesSlide" Target="/ppt/notesSlides/notesSlide9.xml" Id="R4b5e96e52d7743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faeed2180b4a6a" /><Relationship Type="http://schemas.openxmlformats.org/officeDocument/2006/relationships/notesSlide" Target="/ppt/notesSlides/notesSlide10.xml" Id="R66e3778d0ed6459e" /></Relationships>
</file>

<file path=ppt/slides/charts/chart1.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167D7F"/>
            </a:solidFill>
          </c:spPr>
          <c:cat>
            <c:numRef>
              <c:f>'Chart Data'!$A$2:$A$6</c:f>
              <c:numCache>
                <c:formatCode>General</c:formatCode>
                <c:ptCount val="5"/>
                <c:pt idx="0">
                  <c:v>0</c:v>
                </c:pt>
                <c:pt idx="1">
                  <c:v>1</c:v>
                </c:pt>
                <c:pt idx="2">
                  <c:v>2</c:v>
                </c:pt>
                <c:pt idx="3">
                  <c:v>3</c:v>
                </c:pt>
                <c:pt idx="4">
                  <c:v>4</c:v>
                </c:pt>
              </c:numCache>
            </c:numRef>
          </c:cat>
          <c:val>
            <c:numRef>
              <c:f>'Chart Data'!$B$2:$B$6</c:f>
              <c:numCache>
                <c:formatCode>General</c:formatCode>
                <c:ptCount val="5"/>
                <c:pt idx="0">
                  <c:v>0.32</c:v>
                </c:pt>
                <c:pt idx="1">
                  <c:v>0.49</c:v>
                </c:pt>
                <c:pt idx="2">
                  <c:v>0.68</c:v>
                </c:pt>
                <c:pt idx="3">
                  <c:v>0.78</c:v>
                </c:pt>
                <c:pt idx="4">
                  <c:v>2.3</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Value</c:v>
          </c:tx>
          <c:spPr>
            <a:solidFill xmlns:a="http://schemas.openxmlformats.org/drawingml/2006/main">
              <a:srgbClr val="244C66"/>
            </a:solidFill>
          </c:spPr>
          <c:cat>
            <c:numRef>
              <c:f>'Chart Data'!$A$2:$A$11</c:f>
              <c:numCache>
                <c:formatCode>General</c:formatCode>
                <c:ptCount val="10"/>
                <c:pt idx="0">
                  <c:v>6762700020</c:v>
                </c:pt>
                <c:pt idx="1">
                  <c:v>1118000320</c:v>
                </c:pt>
                <c:pt idx="2">
                  <c:v>1346300150</c:v>
                </c:pt>
                <c:pt idx="3">
                  <c:v>1068000375</c:v>
                </c:pt>
                <c:pt idx="4">
                  <c:v>7159200005</c:v>
                </c:pt>
                <c:pt idx="5">
                  <c:v>5317100750</c:v>
                </c:pt>
                <c:pt idx="6">
                  <c:v>5249800010</c:v>
                </c:pt>
                <c:pt idx="7">
                  <c:v>2397101606</c:v>
                </c:pt>
                <c:pt idx="8">
                  <c:v>1118001408</c:v>
                </c:pt>
                <c:pt idx="9">
                  <c:v>1118002000</c:v>
                </c:pt>
              </c:numCache>
            </c:numRef>
          </c:cat>
          <c:val>
            <c:numRef>
              <c:f>'Chart Data'!$B$2:$B$11</c:f>
              <c:numCache>
                <c:formatCode>General</c:formatCode>
                <c:ptCount val="10"/>
                <c:pt idx="0">
                  <c:v>7.7</c:v>
                </c:pt>
                <c:pt idx="1">
                  <c:v>3.39</c:v>
                </c:pt>
                <c:pt idx="2">
                  <c:v>3.29</c:v>
                </c:pt>
                <c:pt idx="3">
                  <c:v>3.18</c:v>
                </c:pt>
                <c:pt idx="4">
                  <c:v>3.18</c:v>
                </c:pt>
                <c:pt idx="5">
                  <c:v>2.91</c:v>
                </c:pt>
                <c:pt idx="6">
                  <c:v>2.72</c:v>
                </c:pt>
                <c:pt idx="7">
                  <c:v>2.63</c:v>
                </c:pt>
                <c:pt idx="8">
                  <c:v>2.53</c:v>
                </c:pt>
                <c:pt idx="9">
                  <c:v>2.45</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244C66"/>
            </a:solidFill>
          </c:spPr>
          <c:cat>
            <c:strRef>
              <c:f>'Chart Data'!$A$2:$A$5</c:f>
              <c:strCache>
                <c:ptCount val="4"/>
                <c:pt idx="0">
                  <c:v>0–5 mi</c:v>
                </c:pt>
                <c:pt idx="1">
                  <c:v>5–10 mi</c:v>
                </c:pt>
                <c:pt idx="2">
                  <c:v>10–20 mi</c:v>
                </c:pt>
                <c:pt idx="3">
                  <c:v>20+ mi</c:v>
                </c:pt>
              </c:strCache>
            </c:strRef>
          </c:cat>
          <c:val>
            <c:numRef>
              <c:f>'Chart Data'!$B$2:$B$5</c:f>
              <c:numCache>
                <c:formatCode>General</c:formatCode>
                <c:ptCount val="4"/>
                <c:pt idx="0">
                  <c:v>4500</c:v>
                </c:pt>
                <c:pt idx="1">
                  <c:v>6000</c:v>
                </c:pt>
                <c:pt idx="2">
                  <c:v>10000</c:v>
                </c:pt>
                <c:pt idx="3">
                  <c:v>9650</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D06B50"/>
            </a:solidFill>
          </c:spPr>
          <c:cat>
            <c:strRef>
              <c:f>'Chart Data'!$A$2:$A$3</c:f>
              <c:strCache>
                <c:ptCount val="2"/>
                <c:pt idx="0">
                  <c:v>Ready premium</c:v>
                </c:pt>
                <c:pt idx="1">
                  <c:v>Renovation opportunity</c:v>
                </c:pt>
              </c:strCache>
            </c:strRef>
          </c:cat>
          <c:val>
            <c:numRef>
              <c:f>'Chart Data'!$B$2:$B$3</c:f>
              <c:numCache>
                <c:formatCode>General</c:formatCode>
                <c:ptCount val="2"/>
                <c:pt idx="0">
                  <c:v>470</c:v>
                </c:pt>
                <c:pt idx="1">
                  <c:v>247</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26D52E-820E-4349-B658-664B657461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2" name="">
            <a:extLst xmlns:a="http://schemas.openxmlformats.org/drawingml/2006/main">
              <a:ext uri="{FF2B5EF4-FFF2-40B4-BE49-F238E27FC236}">
                <a16:creationId xmlns:a16="http://schemas.microsoft.com/office/drawing/2014/main" id="{BDB52DFA-54EF-44B0-8B95-63C6A670A390}"/>
              </a:ext>
            </a:extLst>
          </p:cNvPr>
          <p:cNvSpPr>
            <a:spLocks xmlns:a="http://schemas.openxmlformats.org/drawingml/2006/main" noGrp="1"/>
          </p:cNvSpPr>
          <p:nvPr/>
        </p:nvSpPr>
        <p:spPr>
          <a:xfrm xmlns:a="http://schemas.openxmlformats.org/drawingml/2006/main">
            <a:off x="609600" y="733425"/>
            <a:ext cx="800100" cy="66675"/>
          </a:xfrm>
          <a:prstGeom xmlns:a="http://schemas.openxmlformats.org/drawingml/2006/main" prst="rect">
            <a:avLst/>
          </a:prstGeom>
          <a:solidFill xmlns:a="http://schemas.openxmlformats.org/drawingml/2006/main">
            <a:srgbClr val="D06B50"/>
          </a:solidFill>
          <a:ln xmlns:a="http://schemas.openxmlformats.org/drawingml/2006/main" w="0">
            <a:solidFill>
              <a:srgbClr val="D06B50"/>
            </a:solidFill>
          </a:ln>
        </p:spPr>
      </p:sp>
      <p:sp>
        <p:nvSpPr>
          <p:cNvPr id="3" name="">
            <a:extLst xmlns:a="http://schemas.openxmlformats.org/drawingml/2006/main">
              <a:ext uri="{FF2B5EF4-FFF2-40B4-BE49-F238E27FC236}">
                <a16:creationId xmlns:a16="http://schemas.microsoft.com/office/drawing/2014/main" id="{F9231BF0-AE33-4420-8234-4D1300C716E6}"/>
              </a:ext>
            </a:extLst>
          </p:cNvPr>
          <p:cNvSpPr>
            <a:spLocks xmlns:a="http://schemas.openxmlformats.org/drawingml/2006/main" noGrp="1"/>
          </p:cNvSpPr>
          <p:nvPr/>
        </p:nvSpPr>
        <p:spPr>
          <a:xfrm xmlns:a="http://schemas.openxmlformats.org/drawingml/2006/main">
            <a:off x="609600" y="10668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68AAA8"/>
                </a:solidFill>
                <a:latin typeface="Bitstream Charter"/>
                <a:ea typeface="Bitstream Charter"/>
                <a:cs typeface="Bitstream Charter"/>
              </a:defRPr>
            </a:pPr>
            <a:r>
              <a:rPr sz="1125" b="1">
                <a:solidFill>
                  <a:srgbClr val="68AAA8"/>
                </a:solidFill>
                <a:latin typeface="Bitstream Charter"/>
                <a:ea typeface="Bitstream Charter"/>
                <a:cs typeface="Bitstream Charter"/>
              </a:rPr>
              <a:t>TECHNICAL ANALYSIS</a:t>
            </a:r>
          </a:p>
        </p:txBody>
      </p:sp>
      <p:sp>
        <p:nvSpPr>
          <p:cNvPr id="4" name="">
            <a:extLst xmlns:a="http://schemas.openxmlformats.org/drawingml/2006/main">
              <a:ext uri="{FF2B5EF4-FFF2-40B4-BE49-F238E27FC236}">
                <a16:creationId xmlns:a16="http://schemas.microsoft.com/office/drawing/2014/main" id="{2CE191C8-BF63-4556-AAED-788C8188234F}"/>
              </a:ext>
            </a:extLst>
          </p:cNvPr>
          <p:cNvSpPr>
            <a:spLocks xmlns:a="http://schemas.openxmlformats.org/drawingml/2006/main" noGrp="1"/>
          </p:cNvSpPr>
          <p:nvPr/>
        </p:nvSpPr>
        <p:spPr>
          <a:xfrm xmlns:a="http://schemas.openxmlformats.org/drawingml/2006/main">
            <a:off x="609600" y="1647825"/>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825" b="1">
                <a:solidFill>
                  <a:srgbClr val="FFFFFF"/>
                </a:solidFill>
                <a:latin typeface="Bitstream Charter"/>
                <a:ea typeface="Bitstream Charter"/>
                <a:cs typeface="Bitstream Charter"/>
              </a:defRPr>
            </a:pPr>
            <a:r>
              <a:rPr sz="3825" b="1">
                <a:solidFill>
                  <a:srgbClr val="FFFFFF"/>
                </a:solidFill>
                <a:latin typeface="Bitstream Charter"/>
                <a:ea typeface="Bitstream Charter"/>
                <a:cs typeface="Bitstream Charter"/>
              </a:rPr>
              <a:t>Evidence for the buyer hypotheses</a:t>
            </a:r>
          </a:p>
        </p:txBody>
      </p:sp>
      <p:sp>
        <p:nvSpPr>
          <p:cNvPr id="5" name="">
            <a:extLst xmlns:a="http://schemas.openxmlformats.org/drawingml/2006/main">
              <a:ext uri="{FF2B5EF4-FFF2-40B4-BE49-F238E27FC236}">
                <a16:creationId xmlns:a16="http://schemas.microsoft.com/office/drawing/2014/main" id="{63C1F185-2769-4DFC-AA2D-6DB84735F321}"/>
              </a:ext>
            </a:extLst>
          </p:cNvPr>
          <p:cNvSpPr>
            <a:spLocks xmlns:a="http://schemas.openxmlformats.org/drawingml/2006/main" noGrp="1"/>
          </p:cNvSpPr>
          <p:nvPr/>
        </p:nvSpPr>
        <p:spPr>
          <a:xfrm xmlns:a="http://schemas.openxmlformats.org/drawingml/2006/main">
            <a:off x="609600" y="3305175"/>
            <a:ext cx="809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D3DDE2"/>
                </a:solidFill>
                <a:latin typeface="Bitstream Charter"/>
                <a:ea typeface="Bitstream Charter"/>
                <a:cs typeface="Bitstream Charter"/>
              </a:defRPr>
            </a:pPr>
            <a:r>
              <a:rPr sz="1725" b="0">
                <a:solidFill>
                  <a:srgbClr val="D3DDE2"/>
                </a:solidFill>
                <a:latin typeface="Bitstream Charter"/>
                <a:ea typeface="Bitstream Charter"/>
                <a:cs typeface="Bitstream Charter"/>
              </a:rPr>
              <a:t>Three hypotheses tested against the buyer brief, followed by a property recommendation</a:t>
            </a:r>
          </a:p>
        </p:txBody>
      </p:sp>
      <p:sp>
        <p:nvSpPr>
          <p:cNvPr id="6" name="">
            <a:extLst xmlns:a="http://schemas.openxmlformats.org/drawingml/2006/main">
              <a:ext uri="{FF2B5EF4-FFF2-40B4-BE49-F238E27FC236}">
                <a16:creationId xmlns:a16="http://schemas.microsoft.com/office/drawing/2014/main" id="{E783D104-3242-403F-AEEC-EFEF171EC054}"/>
              </a:ext>
            </a:extLst>
          </p:cNvPr>
          <p:cNvSpPr>
            <a:spLocks xmlns:a="http://schemas.openxmlformats.org/drawingml/2006/main" noGrp="1"/>
          </p:cNvSpPr>
          <p:nvPr/>
        </p:nvSpPr>
        <p:spPr>
          <a:xfrm xmlns:a="http://schemas.openxmlformats.org/drawingml/2006/main">
            <a:off x="609600" y="5400675"/>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FFFFFF"/>
                </a:solidFill>
                <a:latin typeface="Bitstream Charter"/>
                <a:ea typeface="Bitstream Charter"/>
                <a:cs typeface="Bitstream Charter"/>
              </a:defRPr>
            </a:pPr>
            <a:r>
              <a:rPr sz="1500" b="0">
                <a:solidFill>
                  <a:srgbClr val="FFFFFF"/>
                </a:solidFill>
                <a:latin typeface="Bitstream Charter"/>
                <a:ea typeface="Bitstream Charter"/>
                <a:cs typeface="Bitstream Charter"/>
              </a:rPr>
              <a:t>Historic homes · large lots · four or more bathrooms · no waterfront</a:t>
            </a:r>
          </a:p>
        </p:txBody>
      </p:sp>
      <p:sp>
        <p:nvSpPr>
          <p:cNvPr id="7" name="">
            <a:extLst xmlns:a="http://schemas.openxmlformats.org/drawingml/2006/main">
              <a:ext uri="{FF2B5EF4-FFF2-40B4-BE49-F238E27FC236}">
                <a16:creationId xmlns:a16="http://schemas.microsoft.com/office/drawing/2014/main" id="{20390FF6-0EE3-49D8-A185-3FA062F8E55D}"/>
              </a:ext>
            </a:extLst>
          </p:cNvPr>
          <p:cNvSpPr>
            <a:spLocks xmlns:a="http://schemas.openxmlformats.org/drawingml/2006/main" noGrp="1"/>
          </p:cNvSpPr>
          <p:nvPr/>
        </p:nvSpPr>
        <p:spPr>
          <a:xfrm xmlns:a="http://schemas.openxmlformats.org/drawingml/2006/main">
            <a:off x="609600" y="60960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825" b="1">
                <a:solidFill>
                  <a:srgbClr val="68AAA8"/>
                </a:solidFill>
                <a:latin typeface="Bitstream Charter"/>
                <a:ea typeface="Bitstream Charter"/>
                <a:cs typeface="Bitstream Charter"/>
              </a:defRPr>
            </a:pPr>
            <a:r>
              <a:rPr sz="825" b="1">
                <a:solidFill>
                  <a:srgbClr val="68AAA8"/>
                </a:solidFill>
                <a:latin typeface="Bitstream Charter"/>
                <a:ea typeface="Bitstream Charter"/>
                <a:cs typeface="Bitstream Charter"/>
              </a:rPr>
              <a:t>KING COUNTY, WASHINGTON</a:t>
            </a:r>
          </a:p>
        </p:txBody>
      </p:sp>
    </p:spTree>
    <p:extLst>
      <p:ext uri="{BB962C8B-B14F-4D97-AF65-F5344CB8AC3E}">
        <p14:creationId xmlns:p14="http://schemas.microsoft.com/office/powerpoint/2010/main" val="2061515108"/>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591D598-83DB-451C-A229-56A877C9887C}"/>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THE BRIEF</a:t>
            </a:r>
          </a:p>
        </p:txBody>
      </p:sp>
      <p:sp>
        <p:nvSpPr>
          <p:cNvPr id="2" name="">
            <a:extLst xmlns:a="http://schemas.openxmlformats.org/drawingml/2006/main">
              <a:ext uri="{FF2B5EF4-FFF2-40B4-BE49-F238E27FC236}">
                <a16:creationId xmlns:a16="http://schemas.microsoft.com/office/drawing/2014/main" id="{8E2C324E-1FCB-4D01-BC4C-E7BDDDB03700}"/>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Buyer brief and analytical frame</a:t>
            </a:r>
          </a:p>
        </p:txBody>
      </p:sp>
      <p:sp>
        <p:nvSpPr>
          <p:cNvPr id="3" name="">
            <a:extLst xmlns:a="http://schemas.openxmlformats.org/drawingml/2006/main">
              <a:ext uri="{FF2B5EF4-FFF2-40B4-BE49-F238E27FC236}">
                <a16:creationId xmlns:a16="http://schemas.microsoft.com/office/drawing/2014/main" id="{AA619AC9-1EC6-4F25-B223-9E24A17B97E0}"/>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01</a:t>
            </a:r>
          </a:p>
        </p:txBody>
      </p:sp>
      <p:sp>
        <p:nvSpPr>
          <p:cNvPr id="4" name="">
            <a:extLst xmlns:a="http://schemas.openxmlformats.org/drawingml/2006/main">
              <a:ext uri="{FF2B5EF4-FFF2-40B4-BE49-F238E27FC236}">
                <a16:creationId xmlns:a16="http://schemas.microsoft.com/office/drawing/2014/main" id="{F889CD4A-2E17-4172-A3E9-7F0BE0B0BBA7}"/>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5" name="">
            <a:extLst xmlns:a="http://schemas.openxmlformats.org/drawingml/2006/main">
              <a:ext uri="{FF2B5EF4-FFF2-40B4-BE49-F238E27FC236}">
                <a16:creationId xmlns:a16="http://schemas.microsoft.com/office/drawing/2014/main" id="{55A2345D-4429-468C-A71B-AC15682D6DC0}"/>
              </a:ext>
            </a:extLst>
          </p:cNvPr>
          <p:cNvSpPr>
            <a:spLocks xmlns:a="http://schemas.openxmlformats.org/drawingml/2006/main" noGrp="1"/>
          </p:cNvSpPr>
          <p:nvPr/>
        </p:nvSpPr>
        <p:spPr>
          <a:xfrm xmlns:a="http://schemas.openxmlformats.org/drawingml/2006/main">
            <a:off x="609600" y="15049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12263A"/>
                </a:solidFill>
                <a:latin typeface="Bitstream Charter"/>
                <a:ea typeface="Bitstream Charter"/>
                <a:cs typeface="Bitstream Charter"/>
              </a:defRPr>
            </a:pPr>
            <a:r>
              <a:rPr sz="1650" b="0">
                <a:solidFill>
                  <a:srgbClr val="12263A"/>
                </a:solidFill>
                <a:latin typeface="Bitstream Charter"/>
                <a:ea typeface="Bitstream Charter"/>
                <a:cs typeface="Bitstream Charter"/>
              </a:rPr>
              <a:t>21,597 joined sales records were translated into four measurable buyer criteria and three testable hypotheses.</a:t>
            </a:r>
          </a:p>
        </p:txBody>
      </p:sp>
      <p:sp>
        <p:nvSpPr>
          <p:cNvPr id="6" name="">
            <a:extLst xmlns:a="http://schemas.openxmlformats.org/drawingml/2006/main">
              <a:ext uri="{FF2B5EF4-FFF2-40B4-BE49-F238E27FC236}">
                <a16:creationId xmlns:a16="http://schemas.microsoft.com/office/drawing/2014/main" id="{5F140735-34F2-4AA5-B1F3-63D9AA3D3428}"/>
              </a:ext>
            </a:extLst>
          </p:cNvPr>
          <p:cNvSpPr>
            <a:spLocks xmlns:a="http://schemas.openxmlformats.org/drawingml/2006/main" noGrp="1"/>
          </p:cNvSpPr>
          <p:nvPr/>
        </p:nvSpPr>
        <p:spPr>
          <a:xfrm xmlns:a="http://schemas.openxmlformats.org/drawingml/2006/main">
            <a:off x="609600" y="2457450"/>
            <a:ext cx="2000250" cy="47625"/>
          </a:xfrm>
          <a:prstGeom xmlns:a="http://schemas.openxmlformats.org/drawingml/2006/main" prst="rect">
            <a:avLst/>
          </a:prstGeom>
          <a:solidFill xmlns:a="http://schemas.openxmlformats.org/drawingml/2006/main">
            <a:srgbClr val="167D7F"/>
          </a:solidFill>
          <a:ln xmlns:a="http://schemas.openxmlformats.org/drawingml/2006/main" w="0">
            <a:solidFill>
              <a:srgbClr val="167D7F"/>
            </a:solidFill>
          </a:ln>
        </p:spPr>
      </p:sp>
      <p:sp>
        <p:nvSpPr>
          <p:cNvPr id="7" name="">
            <a:extLst xmlns:a="http://schemas.openxmlformats.org/drawingml/2006/main">
              <a:ext uri="{FF2B5EF4-FFF2-40B4-BE49-F238E27FC236}">
                <a16:creationId xmlns:a16="http://schemas.microsoft.com/office/drawing/2014/main" id="{B33C6BF1-CBF7-44CC-B58A-98E7C85D62FB}"/>
              </a:ext>
            </a:extLst>
          </p:cNvPr>
          <p:cNvSpPr>
            <a:spLocks xmlns:a="http://schemas.openxmlformats.org/drawingml/2006/main" noGrp="1"/>
          </p:cNvSpPr>
          <p:nvPr/>
        </p:nvSpPr>
        <p:spPr>
          <a:xfrm xmlns:a="http://schemas.openxmlformats.org/drawingml/2006/main">
            <a:off x="609600" y="2667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2263A"/>
                </a:solidFill>
                <a:latin typeface="Bitstream Charter"/>
                <a:ea typeface="Bitstream Charter"/>
                <a:cs typeface="Bitstream Charter"/>
              </a:defRPr>
            </a:pPr>
            <a:r>
              <a:rPr sz="1725" b="1">
                <a:solidFill>
                  <a:srgbClr val="12263A"/>
                </a:solidFill>
                <a:latin typeface="Bitstream Charter"/>
                <a:ea typeface="Bitstream Charter"/>
                <a:cs typeface="Bitstream Charter"/>
              </a:rPr>
              <a:t>Historic</a:t>
            </a:r>
          </a:p>
        </p:txBody>
      </p:sp>
      <p:sp>
        <p:nvSpPr>
          <p:cNvPr id="8" name="">
            <a:extLst xmlns:a="http://schemas.openxmlformats.org/drawingml/2006/main">
              <a:ext uri="{FF2B5EF4-FFF2-40B4-BE49-F238E27FC236}">
                <a16:creationId xmlns:a16="http://schemas.microsoft.com/office/drawing/2014/main" id="{ED0BA3E3-3F03-4EFB-8CDD-67BF5E3514D2}"/>
              </a:ext>
            </a:extLst>
          </p:cNvPr>
          <p:cNvSpPr>
            <a:spLocks xmlns:a="http://schemas.openxmlformats.org/drawingml/2006/main" noGrp="1"/>
          </p:cNvSpPr>
          <p:nvPr/>
        </p:nvSpPr>
        <p:spPr>
          <a:xfrm xmlns:a="http://schemas.openxmlformats.org/drawingml/2006/main">
            <a:off x="609600" y="31813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Built in 1945 or earlier</a:t>
            </a:r>
          </a:p>
        </p:txBody>
      </p:sp>
      <p:sp>
        <p:nvSpPr>
          <p:cNvPr id="9" name="">
            <a:extLst xmlns:a="http://schemas.openxmlformats.org/drawingml/2006/main">
              <a:ext uri="{FF2B5EF4-FFF2-40B4-BE49-F238E27FC236}">
                <a16:creationId xmlns:a16="http://schemas.microsoft.com/office/drawing/2014/main" id="{8B4630B4-C839-4937-80C6-61052F7AA2D9}"/>
              </a:ext>
            </a:extLst>
          </p:cNvPr>
          <p:cNvSpPr>
            <a:spLocks xmlns:a="http://schemas.openxmlformats.org/drawingml/2006/main" noGrp="1"/>
          </p:cNvSpPr>
          <p:nvPr/>
        </p:nvSpPr>
        <p:spPr>
          <a:xfrm xmlns:a="http://schemas.openxmlformats.org/drawingml/2006/main">
            <a:off x="3371850" y="2457450"/>
            <a:ext cx="2000250" cy="47625"/>
          </a:xfrm>
          <a:prstGeom xmlns:a="http://schemas.openxmlformats.org/drawingml/2006/main" prst="rect">
            <a:avLst/>
          </a:prstGeom>
          <a:solidFill xmlns:a="http://schemas.openxmlformats.org/drawingml/2006/main">
            <a:srgbClr val="244C66"/>
          </a:solidFill>
          <a:ln xmlns:a="http://schemas.openxmlformats.org/drawingml/2006/main" w="0">
            <a:solidFill>
              <a:srgbClr val="244C66"/>
            </a:solidFill>
          </a:ln>
        </p:spPr>
      </p:sp>
      <p:sp>
        <p:nvSpPr>
          <p:cNvPr id="10" name="">
            <a:extLst xmlns:a="http://schemas.openxmlformats.org/drawingml/2006/main">
              <a:ext uri="{FF2B5EF4-FFF2-40B4-BE49-F238E27FC236}">
                <a16:creationId xmlns:a16="http://schemas.microsoft.com/office/drawing/2014/main" id="{FD75A082-BA22-4BB4-AB19-79E43A1DF4FD}"/>
              </a:ext>
            </a:extLst>
          </p:cNvPr>
          <p:cNvSpPr>
            <a:spLocks xmlns:a="http://schemas.openxmlformats.org/drawingml/2006/main" noGrp="1"/>
          </p:cNvSpPr>
          <p:nvPr/>
        </p:nvSpPr>
        <p:spPr>
          <a:xfrm xmlns:a="http://schemas.openxmlformats.org/drawingml/2006/main">
            <a:off x="3371850" y="2667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2263A"/>
                </a:solidFill>
                <a:latin typeface="Bitstream Charter"/>
                <a:ea typeface="Bitstream Charter"/>
                <a:cs typeface="Bitstream Charter"/>
              </a:defRPr>
            </a:pPr>
            <a:r>
              <a:rPr sz="1725" b="1">
                <a:solidFill>
                  <a:srgbClr val="12263A"/>
                </a:solidFill>
                <a:latin typeface="Bitstream Charter"/>
                <a:ea typeface="Bitstream Charter"/>
                <a:cs typeface="Bitstream Charter"/>
              </a:rPr>
              <a:t>Large lot</a:t>
            </a:r>
          </a:p>
        </p:txBody>
      </p:sp>
      <p:sp>
        <p:nvSpPr>
          <p:cNvPr id="11" name="">
            <a:extLst xmlns:a="http://schemas.openxmlformats.org/drawingml/2006/main">
              <a:ext uri="{FF2B5EF4-FFF2-40B4-BE49-F238E27FC236}">
                <a16:creationId xmlns:a16="http://schemas.microsoft.com/office/drawing/2014/main" id="{64CDBA05-4210-4B7D-A318-18747807A905}"/>
              </a:ext>
            </a:extLst>
          </p:cNvPr>
          <p:cNvSpPr>
            <a:spLocks xmlns:a="http://schemas.openxmlformats.org/drawingml/2006/main" noGrp="1"/>
          </p:cNvSpPr>
          <p:nvPr/>
        </p:nvSpPr>
        <p:spPr>
          <a:xfrm xmlns:a="http://schemas.openxmlformats.org/drawingml/2006/main">
            <a:off x="3371850" y="31813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Top quartile among qualifying historic homes</a:t>
            </a:r>
          </a:p>
        </p:txBody>
      </p:sp>
      <p:sp>
        <p:nvSpPr>
          <p:cNvPr id="12" name="">
            <a:extLst xmlns:a="http://schemas.openxmlformats.org/drawingml/2006/main">
              <a:ext uri="{FF2B5EF4-FFF2-40B4-BE49-F238E27FC236}">
                <a16:creationId xmlns:a16="http://schemas.microsoft.com/office/drawing/2014/main" id="{9B205F54-DED5-4A1B-AD92-497058A5894C}"/>
              </a:ext>
            </a:extLst>
          </p:cNvPr>
          <p:cNvSpPr>
            <a:spLocks xmlns:a="http://schemas.openxmlformats.org/drawingml/2006/main" noGrp="1"/>
          </p:cNvSpPr>
          <p:nvPr/>
        </p:nvSpPr>
        <p:spPr>
          <a:xfrm xmlns:a="http://schemas.openxmlformats.org/drawingml/2006/main">
            <a:off x="6134100" y="2457450"/>
            <a:ext cx="2000250" cy="47625"/>
          </a:xfrm>
          <a:prstGeom xmlns:a="http://schemas.openxmlformats.org/drawingml/2006/main" prst="rect">
            <a:avLst/>
          </a:prstGeom>
          <a:solidFill xmlns:a="http://schemas.openxmlformats.org/drawingml/2006/main">
            <a:srgbClr val="D06B50"/>
          </a:solidFill>
          <a:ln xmlns:a="http://schemas.openxmlformats.org/drawingml/2006/main" w="0">
            <a:solidFill>
              <a:srgbClr val="D06B50"/>
            </a:solidFill>
          </a:ln>
        </p:spPr>
      </p:sp>
      <p:sp>
        <p:nvSpPr>
          <p:cNvPr id="13" name="">
            <a:extLst xmlns:a="http://schemas.openxmlformats.org/drawingml/2006/main">
              <a:ext uri="{FF2B5EF4-FFF2-40B4-BE49-F238E27FC236}">
                <a16:creationId xmlns:a16="http://schemas.microsoft.com/office/drawing/2014/main" id="{513378D8-58A1-4EC2-A071-F704C8D7FBE3}"/>
              </a:ext>
            </a:extLst>
          </p:cNvPr>
          <p:cNvSpPr>
            <a:spLocks xmlns:a="http://schemas.openxmlformats.org/drawingml/2006/main" noGrp="1"/>
          </p:cNvSpPr>
          <p:nvPr/>
        </p:nvSpPr>
        <p:spPr>
          <a:xfrm xmlns:a="http://schemas.openxmlformats.org/drawingml/2006/main">
            <a:off x="6134100" y="2667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2263A"/>
                </a:solidFill>
                <a:latin typeface="Bitstream Charter"/>
                <a:ea typeface="Bitstream Charter"/>
                <a:cs typeface="Bitstream Charter"/>
              </a:defRPr>
            </a:pPr>
            <a:r>
              <a:rPr sz="1725" b="1">
                <a:solidFill>
                  <a:srgbClr val="12263A"/>
                </a:solidFill>
                <a:latin typeface="Bitstream Charter"/>
                <a:ea typeface="Bitstream Charter"/>
                <a:cs typeface="Bitstream Charter"/>
              </a:rPr>
              <a:t>4+ bathrooms</a:t>
            </a:r>
          </a:p>
        </p:txBody>
      </p:sp>
      <p:sp>
        <p:nvSpPr>
          <p:cNvPr id="14" name="">
            <a:extLst xmlns:a="http://schemas.openxmlformats.org/drawingml/2006/main">
              <a:ext uri="{FF2B5EF4-FFF2-40B4-BE49-F238E27FC236}">
                <a16:creationId xmlns:a16="http://schemas.microsoft.com/office/drawing/2014/main" id="{DC6928C2-AC4E-4DA2-8200-4AC06343CB3A}"/>
              </a:ext>
            </a:extLst>
          </p:cNvPr>
          <p:cNvSpPr>
            <a:spLocks xmlns:a="http://schemas.openxmlformats.org/drawingml/2006/main" noGrp="1"/>
          </p:cNvSpPr>
          <p:nvPr/>
        </p:nvSpPr>
        <p:spPr>
          <a:xfrm xmlns:a="http://schemas.openxmlformats.org/drawingml/2006/main">
            <a:off x="6134100" y="31813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At least four full or partial bathrooms</a:t>
            </a:r>
          </a:p>
        </p:txBody>
      </p:sp>
      <p:sp>
        <p:nvSpPr>
          <p:cNvPr id="15" name="">
            <a:extLst xmlns:a="http://schemas.openxmlformats.org/drawingml/2006/main">
              <a:ext uri="{FF2B5EF4-FFF2-40B4-BE49-F238E27FC236}">
                <a16:creationId xmlns:a16="http://schemas.microsoft.com/office/drawing/2014/main" id="{BA598A2A-65FF-48AE-83D1-3F0790F597E0}"/>
              </a:ext>
            </a:extLst>
          </p:cNvPr>
          <p:cNvSpPr>
            <a:spLocks xmlns:a="http://schemas.openxmlformats.org/drawingml/2006/main" noGrp="1"/>
          </p:cNvSpPr>
          <p:nvPr/>
        </p:nvSpPr>
        <p:spPr>
          <a:xfrm xmlns:a="http://schemas.openxmlformats.org/drawingml/2006/main">
            <a:off x="8896350" y="2457450"/>
            <a:ext cx="2000250" cy="47625"/>
          </a:xfrm>
          <a:prstGeom xmlns:a="http://schemas.openxmlformats.org/drawingml/2006/main" prst="rect">
            <a:avLst/>
          </a:prstGeom>
          <a:solidFill xmlns:a="http://schemas.openxmlformats.org/drawingml/2006/main">
            <a:srgbClr val="C89B3C"/>
          </a:solidFill>
          <a:ln xmlns:a="http://schemas.openxmlformats.org/drawingml/2006/main" w="0">
            <a:solidFill>
              <a:srgbClr val="C89B3C"/>
            </a:solidFill>
          </a:ln>
        </p:spPr>
      </p:sp>
      <p:sp>
        <p:nvSpPr>
          <p:cNvPr id="16" name="">
            <a:extLst xmlns:a="http://schemas.openxmlformats.org/drawingml/2006/main">
              <a:ext uri="{FF2B5EF4-FFF2-40B4-BE49-F238E27FC236}">
                <a16:creationId xmlns:a16="http://schemas.microsoft.com/office/drawing/2014/main" id="{21AC45F8-742A-4ED4-BCAD-ED58A274FF31}"/>
              </a:ext>
            </a:extLst>
          </p:cNvPr>
          <p:cNvSpPr>
            <a:spLocks xmlns:a="http://schemas.openxmlformats.org/drawingml/2006/main" noGrp="1"/>
          </p:cNvSpPr>
          <p:nvPr/>
        </p:nvSpPr>
        <p:spPr>
          <a:xfrm xmlns:a="http://schemas.openxmlformats.org/drawingml/2006/main">
            <a:off x="8896350" y="2667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2263A"/>
                </a:solidFill>
                <a:latin typeface="Bitstream Charter"/>
                <a:ea typeface="Bitstream Charter"/>
                <a:cs typeface="Bitstream Charter"/>
              </a:defRPr>
            </a:pPr>
            <a:r>
              <a:rPr sz="1725" b="1">
                <a:solidFill>
                  <a:srgbClr val="12263A"/>
                </a:solidFill>
                <a:latin typeface="Bitstream Charter"/>
                <a:ea typeface="Bitstream Charter"/>
                <a:cs typeface="Bitstream Charter"/>
              </a:rPr>
              <a:t>No waterfront</a:t>
            </a:r>
          </a:p>
        </p:txBody>
      </p:sp>
      <p:sp>
        <p:nvSpPr>
          <p:cNvPr id="17" name="">
            <a:extLst xmlns:a="http://schemas.openxmlformats.org/drawingml/2006/main">
              <a:ext uri="{FF2B5EF4-FFF2-40B4-BE49-F238E27FC236}">
                <a16:creationId xmlns:a16="http://schemas.microsoft.com/office/drawing/2014/main" id="{D9769F82-8EDE-49C2-B6B2-CB4981A6191A}"/>
              </a:ext>
            </a:extLst>
          </p:cNvPr>
          <p:cNvSpPr>
            <a:spLocks xmlns:a="http://schemas.openxmlformats.org/drawingml/2006/main" noGrp="1"/>
          </p:cNvSpPr>
          <p:nvPr/>
        </p:nvSpPr>
        <p:spPr>
          <a:xfrm xmlns:a="http://schemas.openxmlformats.org/drawingml/2006/main">
            <a:off x="8896350" y="318135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Confirmed waterfront value of 0</a:t>
            </a:r>
          </a:p>
        </p:txBody>
      </p:sp>
      <p:sp>
        <p:nvSpPr>
          <p:cNvPr id="18" name="">
            <a:extLst xmlns:a="http://schemas.openxmlformats.org/drawingml/2006/main">
              <a:ext uri="{FF2B5EF4-FFF2-40B4-BE49-F238E27FC236}">
                <a16:creationId xmlns:a16="http://schemas.microsoft.com/office/drawing/2014/main" id="{3413E911-ADB8-4E5F-94DF-BAB2E5B4BEF1}"/>
              </a:ext>
            </a:extLst>
          </p:cNvPr>
          <p:cNvSpPr>
            <a:spLocks xmlns:a="http://schemas.openxmlformats.org/drawingml/2006/main" noGrp="1"/>
          </p:cNvSpPr>
          <p:nvPr/>
        </p:nvSpPr>
        <p:spPr>
          <a:xfrm xmlns:a="http://schemas.openxmlformats.org/drawingml/2006/main">
            <a:off x="609600" y="445770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9" name="">
            <a:extLst xmlns:a="http://schemas.openxmlformats.org/drawingml/2006/main">
              <a:ext uri="{FF2B5EF4-FFF2-40B4-BE49-F238E27FC236}">
                <a16:creationId xmlns:a16="http://schemas.microsoft.com/office/drawing/2014/main" id="{55B90F73-AF34-4EE9-8DE3-9A62940A8D9A}"/>
              </a:ext>
            </a:extLst>
          </p:cNvPr>
          <p:cNvSpPr>
            <a:spLocks xmlns:a="http://schemas.openxmlformats.org/drawingml/2006/main" noGrp="1"/>
          </p:cNvSpPr>
          <p:nvPr/>
        </p:nvSpPr>
        <p:spPr>
          <a:xfrm xmlns:a="http://schemas.openxmlformats.org/drawingml/2006/main">
            <a:off x="609600" y="47625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D06B50"/>
                </a:solidFill>
                <a:latin typeface="Bitstream Charter"/>
                <a:ea typeface="Bitstream Charter"/>
                <a:cs typeface="Bitstream Charter"/>
              </a:defRPr>
            </a:pPr>
            <a:r>
              <a:rPr sz="1875" b="1">
                <a:solidFill>
                  <a:srgbClr val="D06B50"/>
                </a:solidFill>
                <a:latin typeface="Bitstream Charter"/>
                <a:ea typeface="Bitstream Charter"/>
                <a:cs typeface="Bitstream Charter"/>
              </a:rPr>
              <a:t>No price cap</a:t>
            </a:r>
          </a:p>
        </p:txBody>
      </p:sp>
      <p:sp>
        <p:nvSpPr>
          <p:cNvPr id="20" name="">
            <a:extLst xmlns:a="http://schemas.openxmlformats.org/drawingml/2006/main">
              <a:ext uri="{FF2B5EF4-FFF2-40B4-BE49-F238E27FC236}">
                <a16:creationId xmlns:a16="http://schemas.microsoft.com/office/drawing/2014/main" id="{FBB88415-56AD-41C3-9E2F-7F7E02DDD981}"/>
              </a:ext>
            </a:extLst>
          </p:cNvPr>
          <p:cNvSpPr>
            <a:spLocks xmlns:a="http://schemas.openxmlformats.org/drawingml/2006/main" noGrp="1"/>
          </p:cNvSpPr>
          <p:nvPr/>
        </p:nvSpPr>
        <p:spPr>
          <a:xfrm xmlns:a="http://schemas.openxmlformats.org/drawingml/2006/main">
            <a:off x="3333750" y="4762500"/>
            <a:ext cx="781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12263A"/>
                </a:solidFill>
                <a:latin typeface="Bitstream Charter"/>
                <a:ea typeface="Bitstream Charter"/>
                <a:cs typeface="Bitstream Charter"/>
              </a:defRPr>
            </a:pPr>
            <a:r>
              <a:rPr sz="1650" b="0">
                <a:solidFill>
                  <a:srgbClr val="12263A"/>
                </a:solidFill>
                <a:latin typeface="Bitstream Charter"/>
                <a:ea typeface="Bitstream Charter"/>
                <a:cs typeface="Bitstream Charter"/>
              </a:rPr>
              <a:t>First apply the requirements. Then rank the surviving homes by price and evaluate location and renovation trade-offs.</a:t>
            </a:r>
          </a:p>
        </p:txBody>
      </p:sp>
      <p:sp>
        <p:nvSpPr>
          <p:cNvPr id="21" name="">
            <a:extLst xmlns:a="http://schemas.openxmlformats.org/drawingml/2006/main">
              <a:ext uri="{FF2B5EF4-FFF2-40B4-BE49-F238E27FC236}">
                <a16:creationId xmlns:a16="http://schemas.microsoft.com/office/drawing/2014/main" id="{9B698E2F-B3F3-40CF-A8B9-E6A18AB29E19}"/>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22" name="">
            <a:extLst xmlns:a="http://schemas.openxmlformats.org/drawingml/2006/main">
              <a:ext uri="{FF2B5EF4-FFF2-40B4-BE49-F238E27FC236}">
                <a16:creationId xmlns:a16="http://schemas.microsoft.com/office/drawing/2014/main" id="{E7BEEBC5-3F76-44BB-BD50-34B8EC959361}"/>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2108261446"/>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5D8DEF-D5CA-4AD2-9278-4EF2616088B8}"/>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HYPOTHESIS 1</a:t>
            </a:r>
          </a:p>
        </p:txBody>
      </p:sp>
      <p:sp>
        <p:nvSpPr>
          <p:cNvPr id="2" name="">
            <a:extLst xmlns:a="http://schemas.openxmlformats.org/drawingml/2006/main">
              <a:ext uri="{FF2B5EF4-FFF2-40B4-BE49-F238E27FC236}">
                <a16:creationId xmlns:a16="http://schemas.microsoft.com/office/drawing/2014/main" id="{39CB66DE-1919-4F9A-84CD-489416A753D4}"/>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Premium features drive the highest sale prices</a:t>
            </a:r>
          </a:p>
        </p:txBody>
      </p:sp>
      <p:sp>
        <p:nvSpPr>
          <p:cNvPr id="3" name="">
            <a:extLst xmlns:a="http://schemas.openxmlformats.org/drawingml/2006/main">
              <a:ext uri="{FF2B5EF4-FFF2-40B4-BE49-F238E27FC236}">
                <a16:creationId xmlns:a16="http://schemas.microsoft.com/office/drawing/2014/main" id="{7A5A743E-6ECA-4E64-B4EA-3924DE79EC79}"/>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02</a:t>
            </a:r>
          </a:p>
        </p:txBody>
      </p:sp>
      <p:sp>
        <p:nvSpPr>
          <p:cNvPr id="4" name="">
            <a:extLst xmlns:a="http://schemas.openxmlformats.org/drawingml/2006/main">
              <a:ext uri="{FF2B5EF4-FFF2-40B4-BE49-F238E27FC236}">
                <a16:creationId xmlns:a16="http://schemas.microsoft.com/office/drawing/2014/main" id="{94EB94EA-CF09-441B-94E6-F99024AA11C5}"/>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graphicFrame>
        <p:nvGraphicFramePr>
          <p:cNvPr id="20" name="Chart"/>
          <p:cNvGraphicFramePr/>
          <p:nvPr/>
        </p:nvGraphicFramePr>
        <p:xfrm>
          <a:off xmlns:a="http://schemas.openxmlformats.org/drawingml/2006/main" x="666750" y="1571625"/>
          <a:ext xmlns:a="http://schemas.openxmlformats.org/drawingml/2006/main" cx="7239000" cy="3810000"/>
        </p:xfrm>
        <a:graphic xmlns:a="http://schemas.openxmlformats.org/drawingml/2006/main">
          <a:graphicData uri="http://schemas.openxmlformats.org/drawingml/2006/chart">
            <c:chart xmlns:r="http://schemas.openxmlformats.org/officeDocument/2006/relationships" xmlns:c="http://schemas.openxmlformats.org/drawingml/2006/chart" r:id="Rc40a4236d1674e8c"/>
          </a:graphicData>
        </a:graphic>
      </p:graphicFrame>
      <p:sp>
        <p:nvSpPr>
          <p:cNvPr id="6" name="">
            <a:extLst xmlns:a="http://schemas.openxmlformats.org/drawingml/2006/main">
              <a:ext uri="{FF2B5EF4-FFF2-40B4-BE49-F238E27FC236}">
                <a16:creationId xmlns:a16="http://schemas.microsoft.com/office/drawing/2014/main" id="{23B2396D-1555-4FAD-8880-26C45D6E1EDD}"/>
              </a:ext>
            </a:extLst>
          </p:cNvPr>
          <p:cNvSpPr>
            <a:spLocks xmlns:a="http://schemas.openxmlformats.org/drawingml/2006/main" noGrp="1"/>
          </p:cNvSpPr>
          <p:nvPr/>
        </p:nvSpPr>
        <p:spPr>
          <a:xfrm xmlns:a="http://schemas.openxmlformats.org/drawingml/2006/main">
            <a:off x="2428875" y="538162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buNone/>
              <a:defRPr sz="1275" b="1">
                <a:solidFill>
                  <a:srgbClr val="596A78"/>
                </a:solidFill>
                <a:latin typeface="Bitstream Charter"/>
                <a:ea typeface="Bitstream Charter"/>
                <a:cs typeface="Bitstream Charter"/>
              </a:defRPr>
            </a:pPr>
            <a:r>
              <a:rPr sz="1275" b="1">
                <a:solidFill>
                  <a:srgbClr val="596A78"/>
                </a:solidFill>
                <a:latin typeface="Bitstream Charter"/>
                <a:ea typeface="Bitstream Charter"/>
                <a:cs typeface="Bitstream Charter"/>
              </a:rPr>
              <a:t>Number of buyer criteria met</a:t>
            </a:r>
          </a:p>
        </p:txBody>
      </p:sp>
      <p:sp>
        <p:nvSpPr>
          <p:cNvPr id="7" name="">
            <a:extLst xmlns:a="http://schemas.openxmlformats.org/drawingml/2006/main">
              <a:ext uri="{FF2B5EF4-FFF2-40B4-BE49-F238E27FC236}">
                <a16:creationId xmlns:a16="http://schemas.microsoft.com/office/drawing/2014/main" id="{59D92161-FADA-4E5A-B794-DE27B2AACBE7}"/>
              </a:ext>
            </a:extLst>
          </p:cNvPr>
          <p:cNvSpPr>
            <a:spLocks xmlns:a="http://schemas.openxmlformats.org/drawingml/2006/main" noGrp="1"/>
          </p:cNvSpPr>
          <p:nvPr/>
        </p:nvSpPr>
        <p:spPr>
          <a:xfrm xmlns:a="http://schemas.openxmlformats.org/drawingml/2006/main">
            <a:off x="8420100" y="17907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D06B50"/>
                </a:solidFill>
                <a:latin typeface="Bitstream Charter"/>
                <a:ea typeface="Bitstream Charter"/>
                <a:cs typeface="Bitstream Charter"/>
              </a:defRPr>
            </a:pPr>
            <a:r>
              <a:rPr sz="3225" b="1">
                <a:solidFill>
                  <a:srgbClr val="D06B50"/>
                </a:solidFill>
                <a:latin typeface="Bitstream Charter"/>
                <a:ea typeface="Bitstream Charter"/>
                <a:cs typeface="Bitstream Charter"/>
              </a:rPr>
              <a:t>$2.30M</a:t>
            </a:r>
          </a:p>
        </p:txBody>
      </p:sp>
      <p:sp>
        <p:nvSpPr>
          <p:cNvPr id="8" name="">
            <a:extLst xmlns:a="http://schemas.openxmlformats.org/drawingml/2006/main">
              <a:ext uri="{FF2B5EF4-FFF2-40B4-BE49-F238E27FC236}">
                <a16:creationId xmlns:a16="http://schemas.microsoft.com/office/drawing/2014/main" id="{E353EDE4-720A-4065-B6A8-E5556562433C}"/>
              </a:ext>
            </a:extLst>
          </p:cNvPr>
          <p:cNvSpPr>
            <a:spLocks xmlns:a="http://schemas.openxmlformats.org/drawingml/2006/main" noGrp="1"/>
          </p:cNvSpPr>
          <p:nvPr/>
        </p:nvSpPr>
        <p:spPr>
          <a:xfrm xmlns:a="http://schemas.openxmlformats.org/drawingml/2006/main">
            <a:off x="8420100" y="24288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Median sale price when all four buyer criteria are met</a:t>
            </a:r>
          </a:p>
        </p:txBody>
      </p:sp>
      <p:sp>
        <p:nvSpPr>
          <p:cNvPr id="9" name="">
            <a:extLst xmlns:a="http://schemas.openxmlformats.org/drawingml/2006/main">
              <a:ext uri="{FF2B5EF4-FFF2-40B4-BE49-F238E27FC236}">
                <a16:creationId xmlns:a16="http://schemas.microsoft.com/office/drawing/2014/main" id="{2FBCBCFA-3D31-4D37-8882-721D3584D464}"/>
              </a:ext>
            </a:extLst>
          </p:cNvPr>
          <p:cNvSpPr>
            <a:spLocks xmlns:a="http://schemas.openxmlformats.org/drawingml/2006/main" noGrp="1"/>
          </p:cNvSpPr>
          <p:nvPr/>
        </p:nvSpPr>
        <p:spPr>
          <a:xfrm xmlns:a="http://schemas.openxmlformats.org/drawingml/2006/main">
            <a:off x="8420100" y="3143250"/>
            <a:ext cx="272415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0" name="">
            <a:extLst xmlns:a="http://schemas.openxmlformats.org/drawingml/2006/main">
              <a:ext uri="{FF2B5EF4-FFF2-40B4-BE49-F238E27FC236}">
                <a16:creationId xmlns:a16="http://schemas.microsoft.com/office/drawing/2014/main" id="{FC3DE6BE-8825-46C8-915C-BDD5D2C35CE3}"/>
              </a:ext>
            </a:extLst>
          </p:cNvPr>
          <p:cNvSpPr>
            <a:spLocks xmlns:a="http://schemas.openxmlformats.org/drawingml/2006/main" noGrp="1"/>
          </p:cNvSpPr>
          <p:nvPr/>
        </p:nvSpPr>
        <p:spPr>
          <a:xfrm xmlns:a="http://schemas.openxmlformats.org/drawingml/2006/main">
            <a:off x="8420100" y="3429000"/>
            <a:ext cx="2781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2263A"/>
                </a:solidFill>
                <a:latin typeface="Bitstream Charter"/>
                <a:ea typeface="Bitstream Charter"/>
                <a:cs typeface="Bitstream Charter"/>
              </a:defRPr>
            </a:pPr>
            <a:r>
              <a:rPr sz="1650" b="1">
                <a:solidFill>
                  <a:srgbClr val="12263A"/>
                </a:solidFill>
                <a:latin typeface="Bitstream Charter"/>
                <a:ea typeface="Bitstream Charter"/>
                <a:cs typeface="Bitstream Charter"/>
              </a:rPr>
              <a:t>The median rises from $0.32M at zero criteria to $2.30M when all four are met.</a:t>
            </a:r>
          </a:p>
        </p:txBody>
      </p:sp>
      <p:sp>
        <p:nvSpPr>
          <p:cNvPr id="11" name="">
            <a:extLst xmlns:a="http://schemas.openxmlformats.org/drawingml/2006/main">
              <a:ext uri="{FF2B5EF4-FFF2-40B4-BE49-F238E27FC236}">
                <a16:creationId xmlns:a16="http://schemas.microsoft.com/office/drawing/2014/main" id="{C435A801-1894-42D2-A8B1-A705444A9710}"/>
              </a:ext>
            </a:extLst>
          </p:cNvPr>
          <p:cNvSpPr>
            <a:spLocks xmlns:a="http://schemas.openxmlformats.org/drawingml/2006/main" noGrp="1"/>
          </p:cNvSpPr>
          <p:nvPr/>
        </p:nvSpPr>
        <p:spPr>
          <a:xfrm xmlns:a="http://schemas.openxmlformats.org/drawingml/2006/main">
            <a:off x="8420100" y="509587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167D7F"/>
                </a:solidFill>
                <a:latin typeface="Bitstream Charter"/>
                <a:ea typeface="Bitstream Charter"/>
                <a:cs typeface="Bitstream Charter"/>
              </a:defRPr>
            </a:pPr>
            <a:r>
              <a:rPr sz="1575" b="1">
                <a:solidFill>
                  <a:srgbClr val="167D7F"/>
                </a:solidFill>
                <a:latin typeface="Bitstream Charter"/>
                <a:ea typeface="Bitstream Charter"/>
                <a:cs typeface="Bitstream Charter"/>
              </a:rPr>
              <a:t>H1 supported</a:t>
            </a:r>
          </a:p>
        </p:txBody>
      </p:sp>
      <p:sp>
        <p:nvSpPr>
          <p:cNvPr id="12" name="">
            <a:extLst xmlns:a="http://schemas.openxmlformats.org/drawingml/2006/main">
              <a:ext uri="{FF2B5EF4-FFF2-40B4-BE49-F238E27FC236}">
                <a16:creationId xmlns:a16="http://schemas.microsoft.com/office/drawing/2014/main" id="{A20BD23B-E664-4AA7-9AF9-3F85F31A5180}"/>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3" name="">
            <a:extLst xmlns:a="http://schemas.openxmlformats.org/drawingml/2006/main">
              <a:ext uri="{FF2B5EF4-FFF2-40B4-BE49-F238E27FC236}">
                <a16:creationId xmlns:a16="http://schemas.microsoft.com/office/drawing/2014/main" id="{44E8DC9D-148E-4FF6-8594-0F9DA16C999C}"/>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1830417619"/>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157288-5750-4E42-8B8C-AD2F5561FEE5}"/>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HIGHEST-VALUE HOMES</a:t>
            </a:r>
          </a:p>
        </p:txBody>
      </p:sp>
      <p:sp>
        <p:nvSpPr>
          <p:cNvPr id="2" name="">
            <a:extLst xmlns:a="http://schemas.openxmlformats.org/drawingml/2006/main">
              <a:ext uri="{FF2B5EF4-FFF2-40B4-BE49-F238E27FC236}">
                <a16:creationId xmlns:a16="http://schemas.microsoft.com/office/drawing/2014/main" id="{870A625C-E9CD-4800-869A-CE98610F5636}"/>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House 6762700020 leads the qualified shortlist</a:t>
            </a:r>
          </a:p>
        </p:txBody>
      </p:sp>
      <p:sp>
        <p:nvSpPr>
          <p:cNvPr id="3" name="">
            <a:extLst xmlns:a="http://schemas.openxmlformats.org/drawingml/2006/main">
              <a:ext uri="{FF2B5EF4-FFF2-40B4-BE49-F238E27FC236}">
                <a16:creationId xmlns:a16="http://schemas.microsoft.com/office/drawing/2014/main" id="{8A596B8D-D41C-4D84-A452-687A174EEDF6}"/>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03</a:t>
            </a:r>
          </a:p>
        </p:txBody>
      </p:sp>
      <p:sp>
        <p:nvSpPr>
          <p:cNvPr id="4" name="">
            <a:extLst xmlns:a="http://schemas.openxmlformats.org/drawingml/2006/main">
              <a:ext uri="{FF2B5EF4-FFF2-40B4-BE49-F238E27FC236}">
                <a16:creationId xmlns:a16="http://schemas.microsoft.com/office/drawing/2014/main" id="{DA5937A4-8B85-4EF2-96CA-7578B7F99939}"/>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graphicFrame>
        <p:nvGraphicFramePr>
          <p:cNvPr id="18" name="Chart"/>
          <p:cNvGraphicFramePr/>
          <p:nvPr/>
        </p:nvGraphicFramePr>
        <p:xfrm>
          <a:off xmlns:a="http://schemas.openxmlformats.org/drawingml/2006/main" x="609600" y="1571625"/>
          <a:ext xmlns:a="http://schemas.openxmlformats.org/drawingml/2006/main" cx="8048625" cy="4333875"/>
        </p:xfrm>
        <a:graphic xmlns:a="http://schemas.openxmlformats.org/drawingml/2006/main">
          <a:graphicData uri="http://schemas.openxmlformats.org/drawingml/2006/chart">
            <c:chart xmlns:r="http://schemas.openxmlformats.org/officeDocument/2006/relationships" xmlns:c="http://schemas.openxmlformats.org/drawingml/2006/chart" r:id="R197804e00ab047ef"/>
          </a:graphicData>
        </a:graphic>
      </p:graphicFrame>
      <p:sp>
        <p:nvSpPr>
          <p:cNvPr id="6" name="">
            <a:extLst xmlns:a="http://schemas.openxmlformats.org/drawingml/2006/main">
              <a:ext uri="{FF2B5EF4-FFF2-40B4-BE49-F238E27FC236}">
                <a16:creationId xmlns:a16="http://schemas.microsoft.com/office/drawing/2014/main" id="{12157515-C716-46EC-8AEB-E1F99F1BB47A}"/>
              </a:ext>
            </a:extLst>
          </p:cNvPr>
          <p:cNvSpPr>
            <a:spLocks xmlns:a="http://schemas.openxmlformats.org/drawingml/2006/main" noGrp="1"/>
          </p:cNvSpPr>
          <p:nvPr/>
        </p:nvSpPr>
        <p:spPr>
          <a:xfrm xmlns:a="http://schemas.openxmlformats.org/drawingml/2006/main">
            <a:off x="9067800" y="18097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D06B50"/>
                </a:solidFill>
                <a:latin typeface="Bitstream Charter"/>
                <a:ea typeface="Bitstream Charter"/>
                <a:cs typeface="Bitstream Charter"/>
              </a:defRPr>
            </a:pPr>
            <a:r>
              <a:rPr sz="3225" b="1">
                <a:solidFill>
                  <a:srgbClr val="D06B50"/>
                </a:solidFill>
                <a:latin typeface="Bitstream Charter"/>
                <a:ea typeface="Bitstream Charter"/>
                <a:cs typeface="Bitstream Charter"/>
              </a:rPr>
              <a:t>$7.7M</a:t>
            </a:r>
          </a:p>
        </p:txBody>
      </p:sp>
      <p:sp>
        <p:nvSpPr>
          <p:cNvPr id="7" name="">
            <a:extLst xmlns:a="http://schemas.openxmlformats.org/drawingml/2006/main">
              <a:ext uri="{FF2B5EF4-FFF2-40B4-BE49-F238E27FC236}">
                <a16:creationId xmlns:a16="http://schemas.microsoft.com/office/drawing/2014/main" id="{C1E946DE-FA4B-4EC1-8E55-5BA745248DB3}"/>
              </a:ext>
            </a:extLst>
          </p:cNvPr>
          <p:cNvSpPr>
            <a:spLocks xmlns:a="http://schemas.openxmlformats.org/drawingml/2006/main" noGrp="1"/>
          </p:cNvSpPr>
          <p:nvPr/>
        </p:nvSpPr>
        <p:spPr>
          <a:xfrm xmlns:a="http://schemas.openxmlformats.org/drawingml/2006/main">
            <a:off x="9067800" y="244792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Highest recorded sale among qualifying homes</a:t>
            </a:r>
          </a:p>
        </p:txBody>
      </p:sp>
      <p:sp>
        <p:nvSpPr>
          <p:cNvPr id="8" name="">
            <a:extLst xmlns:a="http://schemas.openxmlformats.org/drawingml/2006/main">
              <a:ext uri="{FF2B5EF4-FFF2-40B4-BE49-F238E27FC236}">
                <a16:creationId xmlns:a16="http://schemas.microsoft.com/office/drawing/2014/main" id="{B1F32578-F23B-41B4-B59D-2A04F05DC5A5}"/>
              </a:ext>
            </a:extLst>
          </p:cNvPr>
          <p:cNvSpPr>
            <a:spLocks xmlns:a="http://schemas.openxmlformats.org/drawingml/2006/main" noGrp="1"/>
          </p:cNvSpPr>
          <p:nvPr/>
        </p:nvSpPr>
        <p:spPr>
          <a:xfrm xmlns:a="http://schemas.openxmlformats.org/drawingml/2006/main">
            <a:off x="9067800" y="314325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2263A"/>
                </a:solidFill>
                <a:latin typeface="Bitstream Charter"/>
                <a:ea typeface="Bitstream Charter"/>
                <a:cs typeface="Bitstream Charter"/>
              </a:defRPr>
            </a:pPr>
            <a:r>
              <a:rPr sz="2100" b="1">
                <a:solidFill>
                  <a:srgbClr val="12263A"/>
                </a:solidFill>
                <a:latin typeface="Bitstream Charter"/>
                <a:ea typeface="Bitstream Charter"/>
                <a:cs typeface="Bitstream Charter"/>
              </a:rPr>
              <a:t>6762700020</a:t>
            </a:r>
          </a:p>
        </p:txBody>
      </p:sp>
      <p:sp>
        <p:nvSpPr>
          <p:cNvPr id="9" name="">
            <a:extLst xmlns:a="http://schemas.openxmlformats.org/drawingml/2006/main">
              <a:ext uri="{FF2B5EF4-FFF2-40B4-BE49-F238E27FC236}">
                <a16:creationId xmlns:a16="http://schemas.microsoft.com/office/drawing/2014/main" id="{646F9D1E-6E0F-4CA4-B30C-E527C9C1FEE9}"/>
              </a:ext>
            </a:extLst>
          </p:cNvPr>
          <p:cNvSpPr>
            <a:spLocks xmlns:a="http://schemas.openxmlformats.org/drawingml/2006/main" noGrp="1"/>
          </p:cNvSpPr>
          <p:nvPr/>
        </p:nvSpPr>
        <p:spPr>
          <a:xfrm xmlns:a="http://schemas.openxmlformats.org/drawingml/2006/main">
            <a:off x="9067800" y="3810000"/>
            <a:ext cx="2381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2263A"/>
                </a:solidFill>
                <a:latin typeface="Bitstream Charter"/>
                <a:ea typeface="Bitstream Charter"/>
                <a:cs typeface="Bitstream Charter"/>
              </a:defRPr>
            </a:pPr>
            <a:r>
              <a:rPr sz="1500" b="0">
                <a:solidFill>
                  <a:srgbClr val="12263A"/>
                </a:solidFill>
                <a:latin typeface="Bitstream Charter"/>
                <a:ea typeface="Bitstream Charter"/>
                <a:cs typeface="Bitstream Charter"/>
              </a:rPr>
              <a:t>The leader is more than $4M above the next home in the observed shortlist. It receives first priority for validation.</a:t>
            </a:r>
          </a:p>
        </p:txBody>
      </p:sp>
      <p:sp>
        <p:nvSpPr>
          <p:cNvPr id="10" name="">
            <a:extLst xmlns:a="http://schemas.openxmlformats.org/drawingml/2006/main">
              <a:ext uri="{FF2B5EF4-FFF2-40B4-BE49-F238E27FC236}">
                <a16:creationId xmlns:a16="http://schemas.microsoft.com/office/drawing/2014/main" id="{7D9AF75A-FE02-4BEA-AF00-117D8CEC4876}"/>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1" name="">
            <a:extLst xmlns:a="http://schemas.openxmlformats.org/drawingml/2006/main">
              <a:ext uri="{FF2B5EF4-FFF2-40B4-BE49-F238E27FC236}">
                <a16:creationId xmlns:a16="http://schemas.microsoft.com/office/drawing/2014/main" id="{2D3637A9-F0B2-4564-8311-962C27979FEB}"/>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118081092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B23051-0EA8-486E-85B4-6878AAC2954F}"/>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PROPERTY LOCATION</a:t>
            </a:r>
          </a:p>
        </p:txBody>
      </p:sp>
      <p:sp>
        <p:nvSpPr>
          <p:cNvPr id="2" name="">
            <a:extLst xmlns:a="http://schemas.openxmlformats.org/drawingml/2006/main">
              <a:ext uri="{FF2B5EF4-FFF2-40B4-BE49-F238E27FC236}">
                <a16:creationId xmlns:a16="http://schemas.microsoft.com/office/drawing/2014/main" id="{739EAB97-F7E5-415A-829C-A4D4A40EC779}"/>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The home and Broadmoor Golf Club are </a:t>
            </a:r>
            <a:r>
              <a:rPr sz="2325" b="1">
                <a:solidFill>
                  <a:srgbClr val="12263A"/>
                </a:solidFill>
                <a:latin typeface="Bitstream Charter"/>
                <a:ea typeface="Bitstream Charter"/>
                <a:cs typeface="Bitstream Charter"/>
              </a:rPr>
              <a:t>1.54 miles</a:t>
            </a:r>
            <a:r>
              <a:rPr sz="2325" b="1">
                <a:solidFill>
                  <a:srgbClr val="12263A"/>
                </a:solidFill>
                <a:latin typeface="Bitstream Charter"/>
                <a:ea typeface="Bitstream Charter"/>
                <a:cs typeface="Bitstream Charter"/>
              </a:rPr>
              <a:t> apart</a:t>
            </a:r>
          </a:p>
        </p:txBody>
      </p:sp>
      <p:sp>
        <p:nvSpPr>
          <p:cNvPr id="3" name="">
            <a:extLst xmlns:a="http://schemas.openxmlformats.org/drawingml/2006/main">
              <a:ext uri="{FF2B5EF4-FFF2-40B4-BE49-F238E27FC236}">
                <a16:creationId xmlns:a16="http://schemas.microsoft.com/office/drawing/2014/main" id="{A1DA4A52-34E2-4A5D-8C41-A8904F8BBB7E}"/>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04</a:t>
            </a:r>
          </a:p>
        </p:txBody>
      </p:sp>
      <p:sp>
        <p:nvSpPr>
          <p:cNvPr id="4" name="">
            <a:extLst xmlns:a="http://schemas.openxmlformats.org/drawingml/2006/main">
              <a:ext uri="{FF2B5EF4-FFF2-40B4-BE49-F238E27FC236}">
                <a16:creationId xmlns:a16="http://schemas.microsoft.com/office/drawing/2014/main" id="{723E2CF2-75CD-4FF2-9E66-57FF2BD9623C}"/>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f93e741422d4382"/>
          <a:srcRect xmlns:a="http://schemas.openxmlformats.org/drawingml/2006/main" l="0" t="0" r="0" b="0"/>
          <a:stretch xmlns:a="http://schemas.openxmlformats.org/drawingml/2006/main">
            <a:fillRect l="0" t="0" r="0" b="0"/>
          </a:stretch>
        </p:blipFill>
        <p:spPr>
          <a:xfrm xmlns:a="http://schemas.openxmlformats.org/drawingml/2006/main" flipH="0" flipV="0">
            <a:off x="609600" y="1485900"/>
            <a:ext cx="7810500" cy="4457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A55021-4028-481D-8403-78C1129E60E2}"/>
              </a:ext>
            </a:extLst>
          </p:cNvPr>
          <p:cNvSpPr>
            <a:spLocks xmlns:a="http://schemas.openxmlformats.org/drawingml/2006/main" noGrp="1"/>
          </p:cNvSpPr>
          <p:nvPr/>
        </p:nvSpPr>
        <p:spPr>
          <a:xfrm xmlns:a="http://schemas.openxmlformats.org/drawingml/2006/main">
            <a:off x="609600" y="1485900"/>
            <a:ext cx="7810500" cy="4457700"/>
          </a:xfrm>
          <a:prstGeom xmlns:a="http://schemas.openxmlformats.org/drawingml/2006/main" prst="rect">
            <a:avLst/>
          </a:prstGeom>
          <a:noFill xmlns:a="http://schemas.openxmlformats.org/drawingml/2006/main"/>
          <a:ln xmlns:a="http://schemas.openxmlformats.org/drawingml/2006/main" w="9525">
            <a:solidFill>
              <a:srgbClr val="D5D9D7"/>
            </a:solidFill>
          </a:ln>
        </p:spPr>
      </p:sp>
      <p:sp>
        <p:nvSpPr>
          <p:cNvPr id="16" name="">
            <a:extLst xmlns:a="http://schemas.openxmlformats.org/drawingml/2006/main">
              <a:ext uri="{FF2B5EF4-FFF2-40B4-BE49-F238E27FC236}">
                <a16:creationId xmlns:a16="http://schemas.microsoft.com/office/drawing/2014/main" id="{7287295E-2E13-41B6-87B9-49FC23B41548}"/>
              </a:ext>
            </a:extLst>
          </p:cNvPr>
          <p:cNvSpPr>
            <a:spLocks xmlns:a="http://schemas.openxmlformats.org/drawingml/2006/main" noGrp="1"/>
          </p:cNvSpPr>
          <p:nvPr/>
        </p:nvSpPr>
        <p:spPr>
          <a:xfrm xmlns:a="http://schemas.openxmlformats.org/drawingml/2006/main">
            <a:off x="8810625" y="166687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167D7F"/>
                </a:solidFill>
                <a:latin typeface="Bitstream Charter"/>
                <a:ea typeface="Bitstream Charter"/>
                <a:cs typeface="Bitstream Charter"/>
              </a:defRPr>
            </a:pPr>
            <a:r>
              <a:rPr sz="3225" b="1">
                <a:solidFill>
                  <a:srgbClr val="167D7F"/>
                </a:solidFill>
                <a:latin typeface="Bitstream Charter"/>
                <a:ea typeface="Bitstream Charter"/>
                <a:cs typeface="Bitstream Charter"/>
              </a:rPr>
              <a:t>98102</a:t>
            </a:r>
          </a:p>
        </p:txBody>
      </p:sp>
      <p:sp>
        <p:nvSpPr>
          <p:cNvPr id="17" name="">
            <a:extLst xmlns:a="http://schemas.openxmlformats.org/drawingml/2006/main">
              <a:ext uri="{FF2B5EF4-FFF2-40B4-BE49-F238E27FC236}">
                <a16:creationId xmlns:a16="http://schemas.microsoft.com/office/drawing/2014/main" id="{73681040-AA0C-463F-AB38-7FC393CF812B}"/>
              </a:ext>
            </a:extLst>
          </p:cNvPr>
          <p:cNvSpPr>
            <a:spLocks xmlns:a="http://schemas.openxmlformats.org/drawingml/2006/main" noGrp="1"/>
          </p:cNvSpPr>
          <p:nvPr/>
        </p:nvSpPr>
        <p:spPr>
          <a:xfrm xmlns:a="http://schemas.openxmlformats.org/drawingml/2006/main">
            <a:off x="8810625" y="23050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Postal code</a:t>
            </a:r>
          </a:p>
        </p:txBody>
      </p:sp>
      <p:sp>
        <p:nvSpPr>
          <p:cNvPr id="18" name="">
            <a:extLst xmlns:a="http://schemas.openxmlformats.org/drawingml/2006/main">
              <a:ext uri="{FF2B5EF4-FFF2-40B4-BE49-F238E27FC236}">
                <a16:creationId xmlns:a16="http://schemas.microsoft.com/office/drawing/2014/main" id="{F26240BA-F490-470C-A318-6E4212F4D397}"/>
              </a:ext>
            </a:extLst>
          </p:cNvPr>
          <p:cNvSpPr>
            <a:spLocks xmlns:a="http://schemas.openxmlformats.org/drawingml/2006/main" noGrp="1"/>
          </p:cNvSpPr>
          <p:nvPr/>
        </p:nvSpPr>
        <p:spPr>
          <a:xfrm xmlns:a="http://schemas.openxmlformats.org/drawingml/2006/main">
            <a:off x="8810625" y="319087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D06B50"/>
                </a:solidFill>
                <a:latin typeface="Bitstream Charter"/>
                <a:ea typeface="Bitstream Charter"/>
                <a:cs typeface="Bitstream Charter"/>
              </a:defRPr>
            </a:pPr>
            <a:r>
              <a:rPr sz="3225" b="1">
                <a:solidFill>
                  <a:srgbClr val="D06B50"/>
                </a:solidFill>
                <a:latin typeface="Bitstream Charter"/>
                <a:ea typeface="Bitstream Charter"/>
                <a:cs typeface="Bitstream Charter"/>
              </a:rPr>
              <a:t>1.54 mi</a:t>
            </a:r>
          </a:p>
        </p:txBody>
      </p:sp>
      <p:sp>
        <p:nvSpPr>
          <p:cNvPr id="19" name="">
            <a:extLst xmlns:a="http://schemas.openxmlformats.org/drawingml/2006/main">
              <a:ext uri="{FF2B5EF4-FFF2-40B4-BE49-F238E27FC236}">
                <a16:creationId xmlns:a16="http://schemas.microsoft.com/office/drawing/2014/main" id="{8F89E850-5D64-4E22-93CA-C1A00FC3169D}"/>
              </a:ext>
            </a:extLst>
          </p:cNvPr>
          <p:cNvSpPr>
            <a:spLocks xmlns:a="http://schemas.openxmlformats.org/drawingml/2006/main" noGrp="1"/>
          </p:cNvSpPr>
          <p:nvPr/>
        </p:nvSpPr>
        <p:spPr>
          <a:xfrm xmlns:a="http://schemas.openxmlformats.org/drawingml/2006/main">
            <a:off x="8810625" y="38290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Straight-line distance</a:t>
            </a:r>
          </a:p>
        </p:txBody>
      </p:sp>
      <p:sp>
        <p:nvSpPr>
          <p:cNvPr id="20" name="">
            <a:extLst xmlns:a="http://schemas.openxmlformats.org/drawingml/2006/main">
              <a:ext uri="{FF2B5EF4-FFF2-40B4-BE49-F238E27FC236}">
                <a16:creationId xmlns:a16="http://schemas.microsoft.com/office/drawing/2014/main" id="{8BCD6B80-4E35-432E-83CF-1DA2B0D56479}"/>
              </a:ext>
            </a:extLst>
          </p:cNvPr>
          <p:cNvSpPr>
            <a:spLocks xmlns:a="http://schemas.openxmlformats.org/drawingml/2006/main" noGrp="1"/>
          </p:cNvSpPr>
          <p:nvPr/>
        </p:nvSpPr>
        <p:spPr>
          <a:xfrm xmlns:a="http://schemas.openxmlformats.org/drawingml/2006/main">
            <a:off x="8810625" y="457200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244C66"/>
                </a:solidFill>
                <a:latin typeface="Bitstream Charter"/>
                <a:ea typeface="Bitstream Charter"/>
                <a:cs typeface="Bitstream Charter"/>
              </a:defRPr>
            </a:pPr>
            <a:r>
              <a:rPr sz="2025" b="1">
                <a:solidFill>
                  <a:srgbClr val="244C66"/>
                </a:solidFill>
                <a:latin typeface="Bitstream Charter"/>
                <a:ea typeface="Bitstream Charter"/>
                <a:cs typeface="Bitstream Charter"/>
              </a:rPr>
              <a:t>2.48 km</a:t>
            </a:r>
          </a:p>
        </p:txBody>
      </p:sp>
      <p:sp>
        <p:nvSpPr>
          <p:cNvPr id="21" name="">
            <a:extLst xmlns:a="http://schemas.openxmlformats.org/drawingml/2006/main">
              <a:ext uri="{FF2B5EF4-FFF2-40B4-BE49-F238E27FC236}">
                <a16:creationId xmlns:a16="http://schemas.microsoft.com/office/drawing/2014/main" id="{0370EC64-90F4-410F-A27A-5C35D0C84DF1}"/>
              </a:ext>
            </a:extLst>
          </p:cNvPr>
          <p:cNvSpPr>
            <a:spLocks xmlns:a="http://schemas.openxmlformats.org/drawingml/2006/main" noGrp="1"/>
          </p:cNvSpPr>
          <p:nvPr/>
        </p:nvSpPr>
        <p:spPr>
          <a:xfrm xmlns:a="http://schemas.openxmlformats.org/drawingml/2006/main">
            <a:off x="8810625" y="5095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21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Driving distance and club access require separate verification.</a:t>
            </a:r>
          </a:p>
        </p:txBody>
      </p:sp>
      <p:sp>
        <p:nvSpPr>
          <p:cNvPr id="22" name="">
            <a:extLst xmlns:a="http://schemas.openxmlformats.org/drawingml/2006/main">
              <a:ext uri="{FF2B5EF4-FFF2-40B4-BE49-F238E27FC236}">
                <a16:creationId xmlns:a16="http://schemas.microsoft.com/office/drawing/2014/main" id="{56EDEF87-0907-4AEA-BFDF-EE26210D53A8}"/>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23" name="">
            <a:extLst xmlns:a="http://schemas.openxmlformats.org/drawingml/2006/main">
              <a:ext uri="{FF2B5EF4-FFF2-40B4-BE49-F238E27FC236}">
                <a16:creationId xmlns:a16="http://schemas.microsoft.com/office/drawing/2014/main" id="{91E28FAC-F553-4F9C-8633-F020AF33C48C}"/>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623825180"/>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EA969E-1DEC-46DA-BBDB-0B54D07E7163}"/>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HYPOTHESIS 2</a:t>
            </a:r>
          </a:p>
        </p:txBody>
      </p:sp>
      <p:sp>
        <p:nvSpPr>
          <p:cNvPr id="2" name="">
            <a:extLst xmlns:a="http://schemas.openxmlformats.org/drawingml/2006/main">
              <a:ext uri="{FF2B5EF4-FFF2-40B4-BE49-F238E27FC236}">
                <a16:creationId xmlns:a16="http://schemas.microsoft.com/office/drawing/2014/main" id="{8C6F2C62-677B-4DBA-8BC0-85BA6451F90B}"/>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2263A"/>
                </a:solidFill>
                <a:latin typeface="Bitstream Charter"/>
                <a:ea typeface="Bitstream Charter"/>
                <a:cs typeface="Bitstream Charter"/>
              </a:defRPr>
            </a:pPr>
            <a:r>
              <a:rPr sz="2025" b="1">
                <a:solidFill>
                  <a:srgbClr val="12263A"/>
                </a:solidFill>
                <a:latin typeface="Bitstream Charter"/>
                <a:ea typeface="Bitstream Charter"/>
                <a:cs typeface="Bitstream Charter"/>
              </a:rPr>
              <a:t>Urban and golf-adjacent locations may limit lot size</a:t>
            </a:r>
          </a:p>
        </p:txBody>
      </p:sp>
      <p:sp>
        <p:nvSpPr>
          <p:cNvPr id="3" name="">
            <a:extLst xmlns:a="http://schemas.openxmlformats.org/drawingml/2006/main">
              <a:ext uri="{FF2B5EF4-FFF2-40B4-BE49-F238E27FC236}">
                <a16:creationId xmlns:a16="http://schemas.microsoft.com/office/drawing/2014/main" id="{7881CD23-DCAF-421E-AC0E-31B642DA25F5}"/>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05</a:t>
            </a:r>
          </a:p>
        </p:txBody>
      </p:sp>
      <p:sp>
        <p:nvSpPr>
          <p:cNvPr id="4" name="">
            <a:extLst xmlns:a="http://schemas.openxmlformats.org/drawingml/2006/main">
              <a:ext uri="{FF2B5EF4-FFF2-40B4-BE49-F238E27FC236}">
                <a16:creationId xmlns:a16="http://schemas.microsoft.com/office/drawing/2014/main" id="{AEC9E60F-716A-4BB4-B0C2-BFC204A9B96A}"/>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graphicFrame>
        <p:nvGraphicFramePr>
          <p:cNvPr id="18" name="Chart"/>
          <p:cNvGraphicFramePr/>
          <p:nvPr/>
        </p:nvGraphicFramePr>
        <p:xfrm>
          <a:off xmlns:a="http://schemas.openxmlformats.org/drawingml/2006/main" x="666750" y="1714500"/>
          <a:ext xmlns:a="http://schemas.openxmlformats.org/drawingml/2006/main" cx="7334250" cy="3857625"/>
        </p:xfrm>
        <a:graphic xmlns:a="http://schemas.openxmlformats.org/drawingml/2006/main">
          <a:graphicData uri="http://schemas.openxmlformats.org/drawingml/2006/chart">
            <c:chart xmlns:r="http://schemas.openxmlformats.org/officeDocument/2006/relationships" xmlns:c="http://schemas.openxmlformats.org/drawingml/2006/chart" r:id="Ra8cebc1a95514427"/>
          </a:graphicData>
        </a:graphic>
      </p:graphicFrame>
      <p:sp>
        <p:nvSpPr>
          <p:cNvPr id="6" name="">
            <a:extLst xmlns:a="http://schemas.openxmlformats.org/drawingml/2006/main">
              <a:ext uri="{FF2B5EF4-FFF2-40B4-BE49-F238E27FC236}">
                <a16:creationId xmlns:a16="http://schemas.microsoft.com/office/drawing/2014/main" id="{D0997F93-ED92-4110-AB09-5B5B7ABE106F}"/>
              </a:ext>
            </a:extLst>
          </p:cNvPr>
          <p:cNvSpPr>
            <a:spLocks xmlns:a="http://schemas.openxmlformats.org/drawingml/2006/main" noGrp="1"/>
          </p:cNvSpPr>
          <p:nvPr/>
        </p:nvSpPr>
        <p:spPr>
          <a:xfrm xmlns:a="http://schemas.openxmlformats.org/drawingml/2006/main">
            <a:off x="8477250" y="17907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167D7F"/>
                </a:solidFill>
                <a:latin typeface="Bitstream Charter"/>
                <a:ea typeface="Bitstream Charter"/>
                <a:cs typeface="Bitstream Charter"/>
              </a:defRPr>
            </a:pPr>
            <a:r>
              <a:rPr sz="3225" b="1">
                <a:solidFill>
                  <a:srgbClr val="167D7F"/>
                </a:solidFill>
                <a:latin typeface="Bitstream Charter"/>
                <a:ea typeface="Bitstream Charter"/>
                <a:cs typeface="Bitstream Charter"/>
              </a:rPr>
              <a:t>10,000</a:t>
            </a:r>
          </a:p>
        </p:txBody>
      </p:sp>
      <p:sp>
        <p:nvSpPr>
          <p:cNvPr id="7" name="">
            <a:extLst xmlns:a="http://schemas.openxmlformats.org/drawingml/2006/main">
              <a:ext uri="{FF2B5EF4-FFF2-40B4-BE49-F238E27FC236}">
                <a16:creationId xmlns:a16="http://schemas.microsoft.com/office/drawing/2014/main" id="{E0E8F7A5-1A88-4CD9-ADF1-7BDD0BB63045}"/>
              </a:ext>
            </a:extLst>
          </p:cNvPr>
          <p:cNvSpPr>
            <a:spLocks xmlns:a="http://schemas.openxmlformats.org/drawingml/2006/main" noGrp="1"/>
          </p:cNvSpPr>
          <p:nvPr/>
        </p:nvSpPr>
        <p:spPr>
          <a:xfrm xmlns:a="http://schemas.openxmlformats.org/drawingml/2006/main">
            <a:off x="8477250" y="24288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Median sqft in the 10–20 mile band</a:t>
            </a:r>
          </a:p>
        </p:txBody>
      </p:sp>
      <p:sp>
        <p:nvSpPr>
          <p:cNvPr id="8" name="">
            <a:extLst xmlns:a="http://schemas.openxmlformats.org/drawingml/2006/main">
              <a:ext uri="{FF2B5EF4-FFF2-40B4-BE49-F238E27FC236}">
                <a16:creationId xmlns:a16="http://schemas.microsoft.com/office/drawing/2014/main" id="{E45D1E2B-5A7D-41D7-9BEB-C0A5E2BC9900}"/>
              </a:ext>
            </a:extLst>
          </p:cNvPr>
          <p:cNvSpPr>
            <a:spLocks xmlns:a="http://schemas.openxmlformats.org/drawingml/2006/main" noGrp="1"/>
          </p:cNvSpPr>
          <p:nvPr/>
        </p:nvSpPr>
        <p:spPr>
          <a:xfrm xmlns:a="http://schemas.openxmlformats.org/drawingml/2006/main">
            <a:off x="8477250" y="3286125"/>
            <a:ext cx="266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2263A"/>
                </a:solidFill>
                <a:latin typeface="Bitstream Charter"/>
                <a:ea typeface="Bitstream Charter"/>
                <a:cs typeface="Bitstream Charter"/>
              </a:defRPr>
            </a:pPr>
            <a:r>
              <a:rPr sz="1500" b="0">
                <a:solidFill>
                  <a:srgbClr val="12263A"/>
                </a:solidFill>
                <a:latin typeface="Bitstream Charter"/>
                <a:ea typeface="Bitstream Charter"/>
                <a:cs typeface="Bitstream Charter"/>
              </a:rPr>
              <a:t>Lot size increases outside the urban core and peaks 10–20 miles away. The graph tests distance from central Seattle, but not golf adjacency directly.</a:t>
            </a:r>
          </a:p>
        </p:txBody>
      </p:sp>
      <p:sp>
        <p:nvSpPr>
          <p:cNvPr id="9" name="">
            <a:extLst xmlns:a="http://schemas.openxmlformats.org/drawingml/2006/main">
              <a:ext uri="{FF2B5EF4-FFF2-40B4-BE49-F238E27FC236}">
                <a16:creationId xmlns:a16="http://schemas.microsoft.com/office/drawing/2014/main" id="{F5ECD356-6DBF-4BFD-977F-9F6480379E6F}"/>
              </a:ext>
            </a:extLst>
          </p:cNvPr>
          <p:cNvSpPr>
            <a:spLocks xmlns:a="http://schemas.openxmlformats.org/drawingml/2006/main" noGrp="1"/>
          </p:cNvSpPr>
          <p:nvPr/>
        </p:nvSpPr>
        <p:spPr>
          <a:xfrm xmlns:a="http://schemas.openxmlformats.org/drawingml/2006/main">
            <a:off x="8477250" y="52197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D06B50"/>
                </a:solidFill>
                <a:latin typeface="Bitstream Charter"/>
                <a:ea typeface="Bitstream Charter"/>
                <a:cs typeface="Bitstream Charter"/>
              </a:defRPr>
            </a:pPr>
            <a:r>
              <a:rPr sz="1575" b="1">
                <a:solidFill>
                  <a:srgbClr val="D06B50"/>
                </a:solidFill>
                <a:latin typeface="Bitstream Charter"/>
                <a:ea typeface="Bitstream Charter"/>
                <a:cs typeface="Bitstream Charter"/>
              </a:rPr>
              <a:t>Partly supported</a:t>
            </a:r>
          </a:p>
        </p:txBody>
      </p:sp>
      <p:sp>
        <p:nvSpPr>
          <p:cNvPr id="10" name="">
            <a:extLst xmlns:a="http://schemas.openxmlformats.org/drawingml/2006/main">
              <a:ext uri="{FF2B5EF4-FFF2-40B4-BE49-F238E27FC236}">
                <a16:creationId xmlns:a16="http://schemas.microsoft.com/office/drawing/2014/main" id="{751C4B95-3204-49D1-8EB8-809390D27571}"/>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1" name="">
            <a:extLst xmlns:a="http://schemas.openxmlformats.org/drawingml/2006/main">
              <a:ext uri="{FF2B5EF4-FFF2-40B4-BE49-F238E27FC236}">
                <a16:creationId xmlns:a16="http://schemas.microsoft.com/office/drawing/2014/main" id="{33B11C89-F563-489D-ACA3-B9D43EF9DA2D}"/>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1523796850"/>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C76291-9A58-47E2-ABC8-512E580E4EA1}"/>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HYPOTHESIS 3</a:t>
            </a:r>
          </a:p>
        </p:txBody>
      </p:sp>
      <p:sp>
        <p:nvSpPr>
          <p:cNvPr id="2" name="">
            <a:extLst xmlns:a="http://schemas.openxmlformats.org/drawingml/2006/main">
              <a:ext uri="{FF2B5EF4-FFF2-40B4-BE49-F238E27FC236}">
                <a16:creationId xmlns:a16="http://schemas.microsoft.com/office/drawing/2014/main" id="{61D358D6-8792-424C-836A-0A5560DDFDE3}"/>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Under-featured historic homes may sell at a discount</a:t>
            </a:r>
          </a:p>
        </p:txBody>
      </p:sp>
      <p:sp>
        <p:nvSpPr>
          <p:cNvPr id="3" name="">
            <a:extLst xmlns:a="http://schemas.openxmlformats.org/drawingml/2006/main">
              <a:ext uri="{FF2B5EF4-FFF2-40B4-BE49-F238E27FC236}">
                <a16:creationId xmlns:a16="http://schemas.microsoft.com/office/drawing/2014/main" id="{404CF47D-B46D-4E40-8881-57E3D1D92810}"/>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06</a:t>
            </a:r>
          </a:p>
        </p:txBody>
      </p:sp>
      <p:sp>
        <p:nvSpPr>
          <p:cNvPr id="4" name="">
            <a:extLst xmlns:a="http://schemas.openxmlformats.org/drawingml/2006/main">
              <a:ext uri="{FF2B5EF4-FFF2-40B4-BE49-F238E27FC236}">
                <a16:creationId xmlns:a16="http://schemas.microsoft.com/office/drawing/2014/main" id="{91DD747B-59E5-472D-8633-F86F71AC1B8E}"/>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graphicFrame>
        <p:nvGraphicFramePr>
          <p:cNvPr id="19" name="Chart"/>
          <p:cNvGraphicFramePr/>
          <p:nvPr/>
        </p:nvGraphicFramePr>
        <p:xfrm>
          <a:off xmlns:a="http://schemas.openxmlformats.org/drawingml/2006/main" x="666750" y="1762125"/>
          <a:ext xmlns:a="http://schemas.openxmlformats.org/drawingml/2006/main" cx="7239000" cy="3762375"/>
        </p:xfrm>
        <a:graphic xmlns:a="http://schemas.openxmlformats.org/drawingml/2006/main">
          <a:graphicData uri="http://schemas.openxmlformats.org/drawingml/2006/chart">
            <c:chart xmlns:r="http://schemas.openxmlformats.org/officeDocument/2006/relationships" xmlns:c="http://schemas.openxmlformats.org/drawingml/2006/chart" r:id="R5bd4119f5d964b12"/>
          </a:graphicData>
        </a:graphic>
      </p:graphicFrame>
      <p:sp>
        <p:nvSpPr>
          <p:cNvPr id="6" name="">
            <a:extLst xmlns:a="http://schemas.openxmlformats.org/drawingml/2006/main">
              <a:ext uri="{FF2B5EF4-FFF2-40B4-BE49-F238E27FC236}">
                <a16:creationId xmlns:a16="http://schemas.microsoft.com/office/drawing/2014/main" id="{54116A04-E921-4F2F-A3AC-D1090960FA60}"/>
              </a:ext>
            </a:extLst>
          </p:cNvPr>
          <p:cNvSpPr>
            <a:spLocks xmlns:a="http://schemas.openxmlformats.org/drawingml/2006/main" noGrp="1"/>
          </p:cNvSpPr>
          <p:nvPr/>
        </p:nvSpPr>
        <p:spPr>
          <a:xfrm xmlns:a="http://schemas.openxmlformats.org/drawingml/2006/main">
            <a:off x="8477250" y="180975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D06B50"/>
                </a:solidFill>
                <a:latin typeface="Bitstream Charter"/>
                <a:ea typeface="Bitstream Charter"/>
                <a:cs typeface="Bitstream Charter"/>
              </a:defRPr>
            </a:pPr>
            <a:r>
              <a:rPr sz="3225" b="1">
                <a:solidFill>
                  <a:srgbClr val="D06B50"/>
                </a:solidFill>
                <a:latin typeface="Bitstream Charter"/>
                <a:ea typeface="Bitstream Charter"/>
                <a:cs typeface="Bitstream Charter"/>
              </a:rPr>
              <a:t>$247</a:t>
            </a:r>
          </a:p>
        </p:txBody>
      </p:sp>
      <p:sp>
        <p:nvSpPr>
          <p:cNvPr id="7" name="">
            <a:extLst xmlns:a="http://schemas.openxmlformats.org/drawingml/2006/main">
              <a:ext uri="{FF2B5EF4-FFF2-40B4-BE49-F238E27FC236}">
                <a16:creationId xmlns:a16="http://schemas.microsoft.com/office/drawing/2014/main" id="{0BD4D9E8-A630-4C58-B9F9-AD35CDECCEA3}"/>
              </a:ext>
            </a:extLst>
          </p:cNvPr>
          <p:cNvSpPr>
            <a:spLocks xmlns:a="http://schemas.openxmlformats.org/drawingml/2006/main" noGrp="1"/>
          </p:cNvSpPr>
          <p:nvPr/>
        </p:nvSpPr>
        <p:spPr>
          <a:xfrm xmlns:a="http://schemas.openxmlformats.org/drawingml/2006/main">
            <a:off x="8477250" y="244792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Median price per sqft for renovation opportunities</a:t>
            </a:r>
          </a:p>
        </p:txBody>
      </p:sp>
      <p:sp>
        <p:nvSpPr>
          <p:cNvPr id="8" name="">
            <a:extLst xmlns:a="http://schemas.openxmlformats.org/drawingml/2006/main">
              <a:ext uri="{FF2B5EF4-FFF2-40B4-BE49-F238E27FC236}">
                <a16:creationId xmlns:a16="http://schemas.microsoft.com/office/drawing/2014/main" id="{077D2C79-C589-4DE1-A394-B61C51F8A660}"/>
              </a:ext>
            </a:extLst>
          </p:cNvPr>
          <p:cNvSpPr>
            <a:spLocks xmlns:a="http://schemas.openxmlformats.org/drawingml/2006/main" noGrp="1"/>
          </p:cNvSpPr>
          <p:nvPr/>
        </p:nvSpPr>
        <p:spPr>
          <a:xfrm xmlns:a="http://schemas.openxmlformats.org/drawingml/2006/main">
            <a:off x="8477250" y="3286125"/>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225" b="1">
                <a:solidFill>
                  <a:srgbClr val="167D7F"/>
                </a:solidFill>
                <a:latin typeface="Bitstream Charter"/>
                <a:ea typeface="Bitstream Charter"/>
                <a:cs typeface="Bitstream Charter"/>
              </a:defRPr>
            </a:pPr>
            <a:r>
              <a:rPr sz="3225" b="1">
                <a:solidFill>
                  <a:srgbClr val="167D7F"/>
                </a:solidFill>
                <a:latin typeface="Bitstream Charter"/>
                <a:ea typeface="Bitstream Charter"/>
                <a:cs typeface="Bitstream Charter"/>
              </a:rPr>
              <a:t>$470</a:t>
            </a:r>
          </a:p>
        </p:txBody>
      </p:sp>
      <p:sp>
        <p:nvSpPr>
          <p:cNvPr id="9" name="">
            <a:extLst xmlns:a="http://schemas.openxmlformats.org/drawingml/2006/main">
              <a:ext uri="{FF2B5EF4-FFF2-40B4-BE49-F238E27FC236}">
                <a16:creationId xmlns:a16="http://schemas.microsoft.com/office/drawing/2014/main" id="{F62D7CA9-833D-4869-A3C4-12F53638789D}"/>
              </a:ext>
            </a:extLst>
          </p:cNvPr>
          <p:cNvSpPr>
            <a:spLocks xmlns:a="http://schemas.openxmlformats.org/drawingml/2006/main" noGrp="1"/>
          </p:cNvSpPr>
          <p:nvPr/>
        </p:nvSpPr>
        <p:spPr>
          <a:xfrm xmlns:a="http://schemas.openxmlformats.org/drawingml/2006/main">
            <a:off x="8477250" y="39243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Median price per sqft for ready premium homes</a:t>
            </a:r>
          </a:p>
        </p:txBody>
      </p:sp>
      <p:sp>
        <p:nvSpPr>
          <p:cNvPr id="10" name="">
            <a:extLst xmlns:a="http://schemas.openxmlformats.org/drawingml/2006/main">
              <a:ext uri="{FF2B5EF4-FFF2-40B4-BE49-F238E27FC236}">
                <a16:creationId xmlns:a16="http://schemas.microsoft.com/office/drawing/2014/main" id="{4A4CC825-4340-4D01-89B8-4842FC93303F}"/>
              </a:ext>
            </a:extLst>
          </p:cNvPr>
          <p:cNvSpPr>
            <a:spLocks xmlns:a="http://schemas.openxmlformats.org/drawingml/2006/main" noGrp="1"/>
          </p:cNvSpPr>
          <p:nvPr/>
        </p:nvSpPr>
        <p:spPr>
          <a:xfrm xmlns:a="http://schemas.openxmlformats.org/drawingml/2006/main">
            <a:off x="8477250" y="51435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244C66"/>
                </a:solidFill>
                <a:latin typeface="Bitstream Charter"/>
                <a:ea typeface="Bitstream Charter"/>
                <a:cs typeface="Bitstream Charter"/>
              </a:defRPr>
            </a:pPr>
            <a:r>
              <a:rPr sz="1575" b="1">
                <a:solidFill>
                  <a:srgbClr val="244C66"/>
                </a:solidFill>
                <a:latin typeface="Bitstream Charter"/>
                <a:ea typeface="Bitstream Charter"/>
                <a:cs typeface="Bitstream Charter"/>
              </a:rPr>
              <a:t>Hypothesis supported</a:t>
            </a:r>
          </a:p>
        </p:txBody>
      </p:sp>
      <p:sp>
        <p:nvSpPr>
          <p:cNvPr id="11" name="">
            <a:extLst xmlns:a="http://schemas.openxmlformats.org/drawingml/2006/main">
              <a:ext uri="{FF2B5EF4-FFF2-40B4-BE49-F238E27FC236}">
                <a16:creationId xmlns:a16="http://schemas.microsoft.com/office/drawing/2014/main" id="{FA8D1FE4-0C6B-45A5-A9F0-BD28A09D49DD}"/>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2" name="">
            <a:extLst xmlns:a="http://schemas.openxmlformats.org/drawingml/2006/main">
              <a:ext uri="{FF2B5EF4-FFF2-40B4-BE49-F238E27FC236}">
                <a16:creationId xmlns:a16="http://schemas.microsoft.com/office/drawing/2014/main" id="{345C68F2-D2CD-4A4D-BF1F-B65CC39771D3}"/>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657897137"/>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67B5DA-9F33-4176-9C74-6F60196AAB8A}"/>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THE RESULT</a:t>
            </a:r>
          </a:p>
        </p:txBody>
      </p:sp>
      <p:sp>
        <p:nvSpPr>
          <p:cNvPr id="2" name="">
            <a:extLst xmlns:a="http://schemas.openxmlformats.org/drawingml/2006/main">
              <a:ext uri="{FF2B5EF4-FFF2-40B4-BE49-F238E27FC236}">
                <a16:creationId xmlns:a16="http://schemas.microsoft.com/office/drawing/2014/main" id="{C3BA32E8-2CA7-4FB1-B6E0-80E9F2AC5E11}"/>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Two hypotheses are supported and one is partly supported</a:t>
            </a:r>
          </a:p>
        </p:txBody>
      </p:sp>
      <p:sp>
        <p:nvSpPr>
          <p:cNvPr id="3" name="">
            <a:extLst xmlns:a="http://schemas.openxmlformats.org/drawingml/2006/main">
              <a:ext uri="{FF2B5EF4-FFF2-40B4-BE49-F238E27FC236}">
                <a16:creationId xmlns:a16="http://schemas.microsoft.com/office/drawing/2014/main" id="{D639ED69-632B-4D5A-93F9-305051DF28FD}"/>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07</a:t>
            </a:r>
          </a:p>
        </p:txBody>
      </p:sp>
      <p:sp>
        <p:nvSpPr>
          <p:cNvPr id="4" name="">
            <a:extLst xmlns:a="http://schemas.openxmlformats.org/drawingml/2006/main">
              <a:ext uri="{FF2B5EF4-FFF2-40B4-BE49-F238E27FC236}">
                <a16:creationId xmlns:a16="http://schemas.microsoft.com/office/drawing/2014/main" id="{1E88AB6C-7DB1-412D-AD05-C797EE8B65AA}"/>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5" name="">
            <a:extLst xmlns:a="http://schemas.openxmlformats.org/drawingml/2006/main">
              <a:ext uri="{FF2B5EF4-FFF2-40B4-BE49-F238E27FC236}">
                <a16:creationId xmlns:a16="http://schemas.microsoft.com/office/drawing/2014/main" id="{FBD0EC06-283E-4DAC-AC0A-2B37DF90A1B0}"/>
              </a:ext>
            </a:extLst>
          </p:cNvPr>
          <p:cNvSpPr>
            <a:spLocks xmlns:a="http://schemas.openxmlformats.org/drawingml/2006/main" noGrp="1"/>
          </p:cNvSpPr>
          <p:nvPr/>
        </p:nvSpPr>
        <p:spPr>
          <a:xfrm xmlns:a="http://schemas.openxmlformats.org/drawingml/2006/main">
            <a:off x="609600" y="17907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2263A"/>
                </a:solidFill>
                <a:latin typeface="Bitstream Charter"/>
                <a:ea typeface="Bitstream Charter"/>
                <a:cs typeface="Bitstream Charter"/>
              </a:defRPr>
            </a:pPr>
            <a:r>
              <a:rPr sz="1650" b="1">
                <a:solidFill>
                  <a:srgbClr val="12263A"/>
                </a:solidFill>
                <a:latin typeface="Bitstream Charter"/>
                <a:ea typeface="Bitstream Charter"/>
                <a:cs typeface="Bitstream Charter"/>
              </a:rPr>
              <a:t>H1  Premium features drive the highest sale prices</a:t>
            </a:r>
          </a:p>
        </p:txBody>
      </p:sp>
      <p:sp>
        <p:nvSpPr>
          <p:cNvPr id="6" name="">
            <a:extLst xmlns:a="http://schemas.openxmlformats.org/drawingml/2006/main">
              <a:ext uri="{FF2B5EF4-FFF2-40B4-BE49-F238E27FC236}">
                <a16:creationId xmlns:a16="http://schemas.microsoft.com/office/drawing/2014/main" id="{ECB53963-5AC0-4FAB-872A-6A5B5E6045F9}"/>
              </a:ext>
            </a:extLst>
          </p:cNvPr>
          <p:cNvSpPr>
            <a:spLocks xmlns:a="http://schemas.openxmlformats.org/drawingml/2006/main" noGrp="1"/>
          </p:cNvSpPr>
          <p:nvPr/>
        </p:nvSpPr>
        <p:spPr>
          <a:xfrm xmlns:a="http://schemas.openxmlformats.org/drawingml/2006/main">
            <a:off x="7953375" y="17907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167D7F"/>
                </a:solidFill>
                <a:latin typeface="Bitstream Charter"/>
                <a:ea typeface="Bitstream Charter"/>
                <a:cs typeface="Bitstream Charter"/>
              </a:defRPr>
            </a:pPr>
            <a:r>
              <a:rPr sz="1350" b="1">
                <a:solidFill>
                  <a:srgbClr val="167D7F"/>
                </a:solidFill>
                <a:latin typeface="Bitstream Charter"/>
                <a:ea typeface="Bitstream Charter"/>
                <a:cs typeface="Bitstream Charter"/>
              </a:rPr>
              <a:t>SUPPORTED</a:t>
            </a:r>
          </a:p>
        </p:txBody>
      </p:sp>
      <p:sp>
        <p:nvSpPr>
          <p:cNvPr id="7" name="">
            <a:extLst xmlns:a="http://schemas.openxmlformats.org/drawingml/2006/main">
              <a:ext uri="{FF2B5EF4-FFF2-40B4-BE49-F238E27FC236}">
                <a16:creationId xmlns:a16="http://schemas.microsoft.com/office/drawing/2014/main" id="{517A28D7-B0C4-4AF6-A68D-C8B654C580C9}"/>
              </a:ext>
            </a:extLst>
          </p:cNvPr>
          <p:cNvSpPr>
            <a:spLocks xmlns:a="http://schemas.openxmlformats.org/drawingml/2006/main" noGrp="1"/>
          </p:cNvSpPr>
          <p:nvPr/>
        </p:nvSpPr>
        <p:spPr>
          <a:xfrm xmlns:a="http://schemas.openxmlformats.org/drawingml/2006/main">
            <a:off x="609600" y="2409825"/>
            <a:ext cx="977265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8" name="">
            <a:extLst xmlns:a="http://schemas.openxmlformats.org/drawingml/2006/main">
              <a:ext uri="{FF2B5EF4-FFF2-40B4-BE49-F238E27FC236}">
                <a16:creationId xmlns:a16="http://schemas.microsoft.com/office/drawing/2014/main" id="{96EC8328-C94E-416B-AC6E-D4C2621B466E}"/>
              </a:ext>
            </a:extLst>
          </p:cNvPr>
          <p:cNvSpPr>
            <a:spLocks xmlns:a="http://schemas.openxmlformats.org/drawingml/2006/main" noGrp="1"/>
          </p:cNvSpPr>
          <p:nvPr/>
        </p:nvSpPr>
        <p:spPr>
          <a:xfrm xmlns:a="http://schemas.openxmlformats.org/drawingml/2006/main">
            <a:off x="609600" y="28765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2263A"/>
                </a:solidFill>
                <a:latin typeface="Bitstream Charter"/>
                <a:ea typeface="Bitstream Charter"/>
                <a:cs typeface="Bitstream Charter"/>
              </a:defRPr>
            </a:pPr>
            <a:r>
              <a:rPr sz="1650" b="1">
                <a:solidFill>
                  <a:srgbClr val="12263A"/>
                </a:solidFill>
                <a:latin typeface="Bitstream Charter"/>
                <a:ea typeface="Bitstream Charter"/>
                <a:cs typeface="Bitstream Charter"/>
              </a:rPr>
              <a:t>H2  Urban and golf-adjacent locations may limit lot size</a:t>
            </a:r>
          </a:p>
        </p:txBody>
      </p:sp>
      <p:sp>
        <p:nvSpPr>
          <p:cNvPr id="9" name="">
            <a:extLst xmlns:a="http://schemas.openxmlformats.org/drawingml/2006/main">
              <a:ext uri="{FF2B5EF4-FFF2-40B4-BE49-F238E27FC236}">
                <a16:creationId xmlns:a16="http://schemas.microsoft.com/office/drawing/2014/main" id="{98502B16-4EAC-4292-8E19-ADDB90D8E509}"/>
              </a:ext>
            </a:extLst>
          </p:cNvPr>
          <p:cNvSpPr>
            <a:spLocks xmlns:a="http://schemas.openxmlformats.org/drawingml/2006/main" noGrp="1"/>
          </p:cNvSpPr>
          <p:nvPr/>
        </p:nvSpPr>
        <p:spPr>
          <a:xfrm xmlns:a="http://schemas.openxmlformats.org/drawingml/2006/main">
            <a:off x="7953375" y="287655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D06B50"/>
                </a:solidFill>
                <a:latin typeface="Bitstream Charter"/>
                <a:ea typeface="Bitstream Charter"/>
                <a:cs typeface="Bitstream Charter"/>
              </a:defRPr>
            </a:pPr>
            <a:r>
              <a:rPr sz="1350" b="1">
                <a:solidFill>
                  <a:srgbClr val="D06B50"/>
                </a:solidFill>
                <a:latin typeface="Bitstream Charter"/>
                <a:ea typeface="Bitstream Charter"/>
                <a:cs typeface="Bitstream Charter"/>
              </a:rPr>
              <a:t>PARTLY SUPPORTED</a:t>
            </a:r>
          </a:p>
        </p:txBody>
      </p:sp>
      <p:sp>
        <p:nvSpPr>
          <p:cNvPr id="10" name="">
            <a:extLst xmlns:a="http://schemas.openxmlformats.org/drawingml/2006/main">
              <a:ext uri="{FF2B5EF4-FFF2-40B4-BE49-F238E27FC236}">
                <a16:creationId xmlns:a16="http://schemas.microsoft.com/office/drawing/2014/main" id="{A33ABE9C-F76E-4FD4-8953-F22D75180591}"/>
              </a:ext>
            </a:extLst>
          </p:cNvPr>
          <p:cNvSpPr>
            <a:spLocks xmlns:a="http://schemas.openxmlformats.org/drawingml/2006/main" noGrp="1"/>
          </p:cNvSpPr>
          <p:nvPr/>
        </p:nvSpPr>
        <p:spPr>
          <a:xfrm xmlns:a="http://schemas.openxmlformats.org/drawingml/2006/main">
            <a:off x="609600" y="3495675"/>
            <a:ext cx="977265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1" name="">
            <a:extLst xmlns:a="http://schemas.openxmlformats.org/drawingml/2006/main">
              <a:ext uri="{FF2B5EF4-FFF2-40B4-BE49-F238E27FC236}">
                <a16:creationId xmlns:a16="http://schemas.microsoft.com/office/drawing/2014/main" id="{E1DF8BBF-9969-4D06-BC5E-4786D3F39A1D}"/>
              </a:ext>
            </a:extLst>
          </p:cNvPr>
          <p:cNvSpPr>
            <a:spLocks xmlns:a="http://schemas.openxmlformats.org/drawingml/2006/main" noGrp="1"/>
          </p:cNvSpPr>
          <p:nvPr/>
        </p:nvSpPr>
        <p:spPr>
          <a:xfrm xmlns:a="http://schemas.openxmlformats.org/drawingml/2006/main">
            <a:off x="609600" y="39624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12263A"/>
                </a:solidFill>
                <a:latin typeface="Bitstream Charter"/>
                <a:ea typeface="Bitstream Charter"/>
                <a:cs typeface="Bitstream Charter"/>
              </a:defRPr>
            </a:pPr>
            <a:r>
              <a:rPr sz="1650" b="1">
                <a:solidFill>
                  <a:srgbClr val="12263A"/>
                </a:solidFill>
                <a:latin typeface="Bitstream Charter"/>
                <a:ea typeface="Bitstream Charter"/>
                <a:cs typeface="Bitstream Charter"/>
              </a:rPr>
              <a:t>H3  Under-featured historic homes may sell at a discount</a:t>
            </a:r>
          </a:p>
        </p:txBody>
      </p:sp>
      <p:sp>
        <p:nvSpPr>
          <p:cNvPr id="12" name="">
            <a:extLst xmlns:a="http://schemas.openxmlformats.org/drawingml/2006/main">
              <a:ext uri="{FF2B5EF4-FFF2-40B4-BE49-F238E27FC236}">
                <a16:creationId xmlns:a16="http://schemas.microsoft.com/office/drawing/2014/main" id="{CDDADB2A-181C-4D2D-B015-62FDBB21BECC}"/>
              </a:ext>
            </a:extLst>
          </p:cNvPr>
          <p:cNvSpPr>
            <a:spLocks xmlns:a="http://schemas.openxmlformats.org/drawingml/2006/main" noGrp="1"/>
          </p:cNvSpPr>
          <p:nvPr/>
        </p:nvSpPr>
        <p:spPr>
          <a:xfrm xmlns:a="http://schemas.openxmlformats.org/drawingml/2006/main">
            <a:off x="7953375" y="39624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167D7F"/>
                </a:solidFill>
                <a:latin typeface="Bitstream Charter"/>
                <a:ea typeface="Bitstream Charter"/>
                <a:cs typeface="Bitstream Charter"/>
              </a:defRPr>
            </a:pPr>
            <a:r>
              <a:rPr sz="1350" b="1">
                <a:solidFill>
                  <a:srgbClr val="167D7F"/>
                </a:solidFill>
                <a:latin typeface="Bitstream Charter"/>
                <a:ea typeface="Bitstream Charter"/>
                <a:cs typeface="Bitstream Charter"/>
              </a:rPr>
              <a:t>SUPPORTED</a:t>
            </a:r>
          </a:p>
        </p:txBody>
      </p:sp>
      <p:sp>
        <p:nvSpPr>
          <p:cNvPr id="13" name="">
            <a:extLst xmlns:a="http://schemas.openxmlformats.org/drawingml/2006/main">
              <a:ext uri="{FF2B5EF4-FFF2-40B4-BE49-F238E27FC236}">
                <a16:creationId xmlns:a16="http://schemas.microsoft.com/office/drawing/2014/main" id="{1C5C85C6-2EA1-4BA3-A0F9-010AFC8487A3}"/>
              </a:ext>
            </a:extLst>
          </p:cNvPr>
          <p:cNvSpPr>
            <a:spLocks xmlns:a="http://schemas.openxmlformats.org/drawingml/2006/main" noGrp="1"/>
          </p:cNvSpPr>
          <p:nvPr/>
        </p:nvSpPr>
        <p:spPr>
          <a:xfrm xmlns:a="http://schemas.openxmlformats.org/drawingml/2006/main">
            <a:off x="609600" y="4581525"/>
            <a:ext cx="977265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4" name="">
            <a:extLst xmlns:a="http://schemas.openxmlformats.org/drawingml/2006/main">
              <a:ext uri="{FF2B5EF4-FFF2-40B4-BE49-F238E27FC236}">
                <a16:creationId xmlns:a16="http://schemas.microsoft.com/office/drawing/2014/main" id="{C2CA65AD-5DE2-4A6B-8ECA-1BCB4108BBE5}"/>
              </a:ext>
            </a:extLst>
          </p:cNvPr>
          <p:cNvSpPr>
            <a:spLocks xmlns:a="http://schemas.openxmlformats.org/drawingml/2006/main" noGrp="1"/>
          </p:cNvSpPr>
          <p:nvPr/>
        </p:nvSpPr>
        <p:spPr>
          <a:xfrm xmlns:a="http://schemas.openxmlformats.org/drawingml/2006/main">
            <a:off x="609600" y="51911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050" b="1">
                <a:solidFill>
                  <a:srgbClr val="D06B50"/>
                </a:solidFill>
                <a:latin typeface="Bitstream Charter"/>
                <a:ea typeface="Bitstream Charter"/>
                <a:cs typeface="Bitstream Charter"/>
              </a:defRPr>
            </a:pPr>
            <a:r>
              <a:rPr sz="1050" b="1">
                <a:solidFill>
                  <a:srgbClr val="D06B50"/>
                </a:solidFill>
                <a:latin typeface="Bitstream Charter"/>
                <a:ea typeface="Bitstream Charter"/>
                <a:cs typeface="Bitstream Charter"/>
              </a:rPr>
              <a:t>CLIENT DECISION</a:t>
            </a:r>
          </a:p>
        </p:txBody>
      </p:sp>
      <p:sp>
        <p:nvSpPr>
          <p:cNvPr id="15" name="">
            <a:extLst xmlns:a="http://schemas.openxmlformats.org/drawingml/2006/main">
              <a:ext uri="{FF2B5EF4-FFF2-40B4-BE49-F238E27FC236}">
                <a16:creationId xmlns:a16="http://schemas.microsoft.com/office/drawing/2014/main" id="{74444EAB-D83D-467E-B300-6A417B393F22}"/>
              </a:ext>
            </a:extLst>
          </p:cNvPr>
          <p:cNvSpPr>
            <a:spLocks xmlns:a="http://schemas.openxmlformats.org/drawingml/2006/main" noGrp="1"/>
          </p:cNvSpPr>
          <p:nvPr/>
        </p:nvSpPr>
        <p:spPr>
          <a:xfrm xmlns:a="http://schemas.openxmlformats.org/drawingml/2006/main">
            <a:off x="2857500" y="509587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12263A"/>
                </a:solidFill>
                <a:latin typeface="Bitstream Charter"/>
                <a:ea typeface="Bitstream Charter"/>
                <a:cs typeface="Bitstream Charter"/>
              </a:defRPr>
            </a:pPr>
            <a:r>
              <a:rPr sz="1575" b="1">
                <a:solidFill>
                  <a:srgbClr val="12263A"/>
                </a:solidFill>
                <a:latin typeface="Bitstream Charter"/>
                <a:ea typeface="Bitstream Charter"/>
                <a:cs typeface="Bitstream Charter"/>
              </a:rPr>
              <a:t>Validate house 6762700020 first. Keep larger-lot and renovation candidates as explicit alternatives, not substitutes hidden inside the main recommendation.</a:t>
            </a:r>
          </a:p>
        </p:txBody>
      </p:sp>
      <p:sp>
        <p:nvSpPr>
          <p:cNvPr id="16" name="">
            <a:extLst xmlns:a="http://schemas.openxmlformats.org/drawingml/2006/main">
              <a:ext uri="{FF2B5EF4-FFF2-40B4-BE49-F238E27FC236}">
                <a16:creationId xmlns:a16="http://schemas.microsoft.com/office/drawing/2014/main" id="{DF95A191-7528-44D3-9708-2F07ADBF5582}"/>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7" name="">
            <a:extLst xmlns:a="http://schemas.openxmlformats.org/drawingml/2006/main">
              <a:ext uri="{FF2B5EF4-FFF2-40B4-BE49-F238E27FC236}">
                <a16:creationId xmlns:a16="http://schemas.microsoft.com/office/drawing/2014/main" id="{05B6E337-A95F-427F-AD9E-A48AE33D2756}"/>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388079061"/>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783D169-4ADB-4723-8490-B54DA243F3C0}"/>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LIMITATIONS</a:t>
            </a:r>
          </a:p>
        </p:txBody>
      </p:sp>
      <p:sp>
        <p:nvSpPr>
          <p:cNvPr id="2" name="">
            <a:extLst xmlns:a="http://schemas.openxmlformats.org/drawingml/2006/main">
              <a:ext uri="{FF2B5EF4-FFF2-40B4-BE49-F238E27FC236}">
                <a16:creationId xmlns:a16="http://schemas.microsoft.com/office/drawing/2014/main" id="{A19FE526-F3BB-4ECD-AA9A-031142FADB89}"/>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Property-level checks remain necessary</a:t>
            </a:r>
          </a:p>
        </p:txBody>
      </p:sp>
      <p:sp>
        <p:nvSpPr>
          <p:cNvPr id="3" name="">
            <a:extLst xmlns:a="http://schemas.openxmlformats.org/drawingml/2006/main">
              <a:ext uri="{FF2B5EF4-FFF2-40B4-BE49-F238E27FC236}">
                <a16:creationId xmlns:a16="http://schemas.microsoft.com/office/drawing/2014/main" id="{8E2237A3-3789-4375-B29E-9B750DBEF541}"/>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08</a:t>
            </a:r>
          </a:p>
        </p:txBody>
      </p:sp>
      <p:sp>
        <p:nvSpPr>
          <p:cNvPr id="4" name="">
            <a:extLst xmlns:a="http://schemas.openxmlformats.org/drawingml/2006/main">
              <a:ext uri="{FF2B5EF4-FFF2-40B4-BE49-F238E27FC236}">
                <a16:creationId xmlns:a16="http://schemas.microsoft.com/office/drawing/2014/main" id="{3B799F94-F508-4C32-B9F2-28FE28916786}"/>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5" name="">
            <a:extLst xmlns:a="http://schemas.openxmlformats.org/drawingml/2006/main">
              <a:ext uri="{FF2B5EF4-FFF2-40B4-BE49-F238E27FC236}">
                <a16:creationId xmlns:a16="http://schemas.microsoft.com/office/drawing/2014/main" id="{23FCA984-2A2D-4DF5-BD47-8E86117CF91C}"/>
              </a:ext>
            </a:extLst>
          </p:cNvPr>
          <p:cNvSpPr>
            <a:spLocks xmlns:a="http://schemas.openxmlformats.org/drawingml/2006/main" noGrp="1"/>
          </p:cNvSpPr>
          <p:nvPr/>
        </p:nvSpPr>
        <p:spPr>
          <a:xfrm xmlns:a="http://schemas.openxmlformats.org/drawingml/2006/main">
            <a:off x="609600" y="1809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67D7F"/>
                </a:solidFill>
                <a:latin typeface="Bitstream Charter"/>
                <a:ea typeface="Bitstream Charter"/>
                <a:cs typeface="Bitstream Charter"/>
              </a:defRPr>
            </a:pPr>
            <a:r>
              <a:rPr sz="1350" b="1">
                <a:solidFill>
                  <a:srgbClr val="167D7F"/>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976F6E2F-2F09-40F0-A30D-463B47C4787B}"/>
              </a:ext>
            </a:extLst>
          </p:cNvPr>
          <p:cNvSpPr>
            <a:spLocks xmlns:a="http://schemas.openxmlformats.org/drawingml/2006/main" noGrp="1"/>
          </p:cNvSpPr>
          <p:nvPr/>
        </p:nvSpPr>
        <p:spPr>
          <a:xfrm xmlns:a="http://schemas.openxmlformats.org/drawingml/2006/main">
            <a:off x="1381125" y="18097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2263A"/>
                </a:solidFill>
                <a:latin typeface="Bitstream Charter"/>
                <a:ea typeface="Bitstream Charter"/>
                <a:cs typeface="Bitstream Charter"/>
              </a:defRPr>
            </a:pPr>
            <a:r>
              <a:rPr sz="1800" b="1">
                <a:solidFill>
                  <a:srgbClr val="12263A"/>
                </a:solidFill>
                <a:latin typeface="Bitstream Charter"/>
                <a:ea typeface="Bitstream Charter"/>
                <a:cs typeface="Bitstream Charter"/>
              </a:rPr>
              <a:t>Availability and ownership</a:t>
            </a:r>
          </a:p>
        </p:txBody>
      </p:sp>
      <p:sp>
        <p:nvSpPr>
          <p:cNvPr id="7" name="">
            <a:extLst xmlns:a="http://schemas.openxmlformats.org/drawingml/2006/main">
              <a:ext uri="{FF2B5EF4-FFF2-40B4-BE49-F238E27FC236}">
                <a16:creationId xmlns:a16="http://schemas.microsoft.com/office/drawing/2014/main" id="{02A36705-2395-4DFB-8BAB-B9F4CA3CDFAF}"/>
              </a:ext>
            </a:extLst>
          </p:cNvPr>
          <p:cNvSpPr>
            <a:spLocks xmlns:a="http://schemas.openxmlformats.org/drawingml/2006/main" noGrp="1"/>
          </p:cNvSpPr>
          <p:nvPr/>
        </p:nvSpPr>
        <p:spPr>
          <a:xfrm xmlns:a="http://schemas.openxmlformats.org/drawingml/2006/main">
            <a:off x="5143500" y="1809750"/>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96A78"/>
                </a:solidFill>
                <a:latin typeface="Bitstream Charter"/>
                <a:ea typeface="Bitstream Charter"/>
                <a:cs typeface="Bitstream Charter"/>
              </a:defRPr>
            </a:pPr>
            <a:r>
              <a:rPr sz="1500" b="0">
                <a:solidFill>
                  <a:srgbClr val="596A78"/>
                </a:solidFill>
                <a:latin typeface="Bitstream Charter"/>
                <a:ea typeface="Bitstream Charter"/>
                <a:cs typeface="Bitstream Charter"/>
              </a:rPr>
              <a:t>Confirm current listing status, ownership and asking terms.</a:t>
            </a:r>
          </a:p>
        </p:txBody>
      </p:sp>
      <p:sp>
        <p:nvSpPr>
          <p:cNvPr id="8" name="">
            <a:extLst xmlns:a="http://schemas.openxmlformats.org/drawingml/2006/main">
              <a:ext uri="{FF2B5EF4-FFF2-40B4-BE49-F238E27FC236}">
                <a16:creationId xmlns:a16="http://schemas.microsoft.com/office/drawing/2014/main" id="{789C94A3-8A71-4715-8B5C-B6C6694C6DAD}"/>
              </a:ext>
            </a:extLst>
          </p:cNvPr>
          <p:cNvSpPr>
            <a:spLocks xmlns:a="http://schemas.openxmlformats.org/drawingml/2006/main" noGrp="1"/>
          </p:cNvSpPr>
          <p:nvPr/>
        </p:nvSpPr>
        <p:spPr>
          <a:xfrm xmlns:a="http://schemas.openxmlformats.org/drawingml/2006/main">
            <a:off x="1381125" y="2686050"/>
            <a:ext cx="9763125"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9" name="">
            <a:extLst xmlns:a="http://schemas.openxmlformats.org/drawingml/2006/main">
              <a:ext uri="{FF2B5EF4-FFF2-40B4-BE49-F238E27FC236}">
                <a16:creationId xmlns:a16="http://schemas.microsoft.com/office/drawing/2014/main" id="{A2D1347A-BC0C-46E9-9886-A7A82498C9AF}"/>
              </a:ext>
            </a:extLst>
          </p:cNvPr>
          <p:cNvSpPr>
            <a:spLocks xmlns:a="http://schemas.openxmlformats.org/drawingml/2006/main" noGrp="1"/>
          </p:cNvSpPr>
          <p:nvPr/>
        </p:nvSpPr>
        <p:spPr>
          <a:xfrm xmlns:a="http://schemas.openxmlformats.org/drawingml/2006/main">
            <a:off x="609600" y="30003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244C66"/>
                </a:solidFill>
                <a:latin typeface="Bitstream Charter"/>
                <a:ea typeface="Bitstream Charter"/>
                <a:cs typeface="Bitstream Charter"/>
              </a:defRPr>
            </a:pPr>
            <a:r>
              <a:rPr sz="1350" b="1">
                <a:solidFill>
                  <a:srgbClr val="244C66"/>
                </a:solidFill>
                <a:latin typeface="Bitstream Charter"/>
                <a:ea typeface="Bitstream Charter"/>
                <a:cs typeface="Bitstream Charter"/>
              </a:rPr>
              <a:t>02</a:t>
            </a:r>
          </a:p>
        </p:txBody>
      </p:sp>
      <p:sp>
        <p:nvSpPr>
          <p:cNvPr id="10" name="">
            <a:extLst xmlns:a="http://schemas.openxmlformats.org/drawingml/2006/main">
              <a:ext uri="{FF2B5EF4-FFF2-40B4-BE49-F238E27FC236}">
                <a16:creationId xmlns:a16="http://schemas.microsoft.com/office/drawing/2014/main" id="{F179FA75-CEE4-48FF-B455-FBFB8B14BFA7}"/>
              </a:ext>
            </a:extLst>
          </p:cNvPr>
          <p:cNvSpPr>
            <a:spLocks xmlns:a="http://schemas.openxmlformats.org/drawingml/2006/main" noGrp="1"/>
          </p:cNvSpPr>
          <p:nvPr/>
        </p:nvSpPr>
        <p:spPr>
          <a:xfrm xmlns:a="http://schemas.openxmlformats.org/drawingml/2006/main">
            <a:off x="1381125" y="30003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12263A"/>
                </a:solidFill>
                <a:latin typeface="Bitstream Charter"/>
                <a:ea typeface="Bitstream Charter"/>
                <a:cs typeface="Bitstream Charter"/>
              </a:defRPr>
            </a:pPr>
            <a:r>
              <a:rPr sz="1800" b="1">
                <a:solidFill>
                  <a:srgbClr val="12263A"/>
                </a:solidFill>
                <a:latin typeface="Bitstream Charter"/>
                <a:ea typeface="Bitstream Charter"/>
                <a:cs typeface="Bitstream Charter"/>
              </a:rPr>
              <a:t>Access and route</a:t>
            </a:r>
          </a:p>
        </p:txBody>
      </p:sp>
      <p:sp>
        <p:nvSpPr>
          <p:cNvPr id="11" name="">
            <a:extLst xmlns:a="http://schemas.openxmlformats.org/drawingml/2006/main">
              <a:ext uri="{FF2B5EF4-FFF2-40B4-BE49-F238E27FC236}">
                <a16:creationId xmlns:a16="http://schemas.microsoft.com/office/drawing/2014/main" id="{0896B3E8-B4B6-4801-B9DE-63A6D0A53565}"/>
              </a:ext>
            </a:extLst>
          </p:cNvPr>
          <p:cNvSpPr>
            <a:spLocks xmlns:a="http://schemas.openxmlformats.org/drawingml/2006/main" noGrp="1"/>
          </p:cNvSpPr>
          <p:nvPr/>
        </p:nvSpPr>
        <p:spPr>
          <a:xfrm xmlns:a="http://schemas.openxmlformats.org/drawingml/2006/main">
            <a:off x="5143500" y="300037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96A78"/>
                </a:solidFill>
                <a:latin typeface="Bitstream Charter"/>
                <a:ea typeface="Bitstream Charter"/>
                <a:cs typeface="Bitstream Charter"/>
              </a:defRPr>
            </a:pPr>
            <a:r>
              <a:rPr sz="1500" b="0">
                <a:solidFill>
                  <a:srgbClr val="596A78"/>
                </a:solidFill>
                <a:latin typeface="Bitstream Charter"/>
                <a:ea typeface="Bitstream Charter"/>
                <a:cs typeface="Bitstream Charter"/>
              </a:rPr>
              <a:t>Validate driving time to Broadmoor and private-club eligibility.</a:t>
            </a:r>
          </a:p>
        </p:txBody>
      </p:sp>
      <p:sp>
        <p:nvSpPr>
          <p:cNvPr id="12" name="">
            <a:extLst xmlns:a="http://schemas.openxmlformats.org/drawingml/2006/main">
              <a:ext uri="{FF2B5EF4-FFF2-40B4-BE49-F238E27FC236}">
                <a16:creationId xmlns:a16="http://schemas.microsoft.com/office/drawing/2014/main" id="{9AA3712F-E13E-458D-9573-668A0C53734B}"/>
              </a:ext>
            </a:extLst>
          </p:cNvPr>
          <p:cNvSpPr>
            <a:spLocks xmlns:a="http://schemas.openxmlformats.org/drawingml/2006/main" noGrp="1"/>
          </p:cNvSpPr>
          <p:nvPr/>
        </p:nvSpPr>
        <p:spPr>
          <a:xfrm xmlns:a="http://schemas.openxmlformats.org/drawingml/2006/main">
            <a:off x="1381125" y="3876675"/>
            <a:ext cx="9763125"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3" name="">
            <a:extLst xmlns:a="http://schemas.openxmlformats.org/drawingml/2006/main">
              <a:ext uri="{FF2B5EF4-FFF2-40B4-BE49-F238E27FC236}">
                <a16:creationId xmlns:a16="http://schemas.microsoft.com/office/drawing/2014/main" id="{5812C6DA-E02E-4D2E-B4EA-452CFE3AF7FD}"/>
              </a:ext>
            </a:extLst>
          </p:cNvPr>
          <p:cNvSpPr>
            <a:spLocks xmlns:a="http://schemas.openxmlformats.org/drawingml/2006/main" noGrp="1"/>
          </p:cNvSpPr>
          <p:nvPr/>
        </p:nvSpPr>
        <p:spPr>
          <a:xfrm xmlns:a="http://schemas.openxmlformats.org/drawingml/2006/main">
            <a:off x="609600" y="41910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D06B50"/>
                </a:solidFill>
                <a:latin typeface="Bitstream Charter"/>
                <a:ea typeface="Bitstream Charter"/>
                <a:cs typeface="Bitstream Charter"/>
              </a:defRPr>
            </a:pPr>
            <a:r>
              <a:rPr sz="1350" b="1">
                <a:solidFill>
                  <a:srgbClr val="D06B50"/>
                </a:solidFill>
                <a:latin typeface="Bitstream Charter"/>
                <a:ea typeface="Bitstream Charter"/>
                <a:cs typeface="Bitstream Charter"/>
              </a:rPr>
              <a:t>03</a:t>
            </a:r>
          </a:p>
        </p:txBody>
      </p:sp>
      <p:sp>
        <p:nvSpPr>
          <p:cNvPr id="14" name="">
            <a:extLst xmlns:a="http://schemas.openxmlformats.org/drawingml/2006/main">
              <a:ext uri="{FF2B5EF4-FFF2-40B4-BE49-F238E27FC236}">
                <a16:creationId xmlns:a16="http://schemas.microsoft.com/office/drawing/2014/main" id="{4526893C-CB29-468E-A3CF-7507FD609BC6}"/>
              </a:ext>
            </a:extLst>
          </p:cNvPr>
          <p:cNvSpPr>
            <a:spLocks xmlns:a="http://schemas.openxmlformats.org/drawingml/2006/main" noGrp="1"/>
          </p:cNvSpPr>
          <p:nvPr/>
        </p:nvSpPr>
        <p:spPr>
          <a:xfrm xmlns:a="http://schemas.openxmlformats.org/drawingml/2006/main">
            <a:off x="1381125" y="41910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1"/>
          </a:bodyPr>
          <a:lstStyle xmlns:a="http://schemas.openxmlformats.org/drawingml/2006/main"/>
          <a:p xmlns:a="http://schemas.openxmlformats.org/drawingml/2006/main">
            <a:pPr algn="l">
              <a:buNone/>
              <a:defRPr sz="1800" b="1">
                <a:solidFill>
                  <a:srgbClr val="12263A"/>
                </a:solidFill>
                <a:latin typeface="Bitstream Charter"/>
                <a:ea typeface="Bitstream Charter"/>
                <a:cs typeface="Bitstream Charter"/>
              </a:defRPr>
            </a:pPr>
            <a:r>
              <a:rPr sz="1800" b="1">
                <a:solidFill>
                  <a:srgbClr val="12263A"/>
                </a:solidFill>
                <a:latin typeface="Bitstream Charter"/>
                <a:ea typeface="Bitstream Charter"/>
                <a:cs typeface="Bitstream Charter"/>
              </a:rPr>
              <a:t>Condition and renovation scope</a:t>
            </a:r>
          </a:p>
        </p:txBody>
      </p:sp>
      <p:sp>
        <p:nvSpPr>
          <p:cNvPr id="15" name="">
            <a:extLst xmlns:a="http://schemas.openxmlformats.org/drawingml/2006/main">
              <a:ext uri="{FF2B5EF4-FFF2-40B4-BE49-F238E27FC236}">
                <a16:creationId xmlns:a16="http://schemas.microsoft.com/office/drawing/2014/main" id="{AE3147D8-5E1F-4163-B137-3C8F6BE596D5}"/>
              </a:ext>
            </a:extLst>
          </p:cNvPr>
          <p:cNvSpPr>
            <a:spLocks xmlns:a="http://schemas.openxmlformats.org/drawingml/2006/main" noGrp="1"/>
          </p:cNvSpPr>
          <p:nvPr/>
        </p:nvSpPr>
        <p:spPr>
          <a:xfrm xmlns:a="http://schemas.openxmlformats.org/drawingml/2006/main">
            <a:off x="5143500" y="4191000"/>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96A78"/>
                </a:solidFill>
                <a:latin typeface="Bitstream Charter"/>
                <a:ea typeface="Bitstream Charter"/>
                <a:cs typeface="Bitstream Charter"/>
              </a:defRPr>
            </a:pPr>
            <a:r>
              <a:rPr sz="1500" b="0">
                <a:solidFill>
                  <a:srgbClr val="596A78"/>
                </a:solidFill>
                <a:latin typeface="Bitstream Charter"/>
                <a:ea typeface="Bitstream Charter"/>
                <a:cs typeface="Bitstream Charter"/>
              </a:rPr>
              <a:t>Use an inspection and renovation estimate before comparing alternatives.</a:t>
            </a:r>
          </a:p>
        </p:txBody>
      </p:sp>
      <p:sp>
        <p:nvSpPr>
          <p:cNvPr id="16" name="">
            <a:extLst xmlns:a="http://schemas.openxmlformats.org/drawingml/2006/main">
              <a:ext uri="{FF2B5EF4-FFF2-40B4-BE49-F238E27FC236}">
                <a16:creationId xmlns:a16="http://schemas.microsoft.com/office/drawing/2014/main" id="{05276905-3EA2-4439-8CC9-8821A991D675}"/>
              </a:ext>
            </a:extLst>
          </p:cNvPr>
          <p:cNvSpPr>
            <a:spLocks xmlns:a="http://schemas.openxmlformats.org/drawingml/2006/main" noGrp="1"/>
          </p:cNvSpPr>
          <p:nvPr/>
        </p:nvSpPr>
        <p:spPr>
          <a:xfrm xmlns:a="http://schemas.openxmlformats.org/drawingml/2006/main">
            <a:off x="1381125" y="5067300"/>
            <a:ext cx="9763125"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7" name="">
            <a:extLst xmlns:a="http://schemas.openxmlformats.org/drawingml/2006/main">
              <a:ext uri="{FF2B5EF4-FFF2-40B4-BE49-F238E27FC236}">
                <a16:creationId xmlns:a16="http://schemas.microsoft.com/office/drawing/2014/main" id="{FF056E77-ECD6-44CB-9BDA-5BBCF4026FD1}"/>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8" name="">
            <a:extLst xmlns:a="http://schemas.openxmlformats.org/drawingml/2006/main">
              <a:ext uri="{FF2B5EF4-FFF2-40B4-BE49-F238E27FC236}">
                <a16:creationId xmlns:a16="http://schemas.microsoft.com/office/drawing/2014/main" id="{B138AA1A-4B48-483D-A67A-A09DAA0D8363}"/>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2092365720"/>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781424-55E4-43B0-A7F8-65A53F730D2F}"/>
              </a:ext>
            </a:extLst>
          </p:cNvPr>
          <p:cNvSpPr>
            <a:spLocks xmlns:a="http://schemas.openxmlformats.org/drawingml/2006/main" noGrp="1"/>
          </p:cNvSpPr>
          <p:nvPr/>
        </p:nvSpPr>
        <p:spPr>
          <a:xfrm xmlns:a="http://schemas.openxmlformats.org/drawingml/2006/main">
            <a:off x="609600" y="3143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167D7F"/>
                </a:solidFill>
                <a:latin typeface="Bitstream Charter"/>
                <a:ea typeface="Bitstream Charter"/>
                <a:cs typeface="Bitstream Charter"/>
              </a:defRPr>
            </a:pPr>
            <a:r>
              <a:rPr sz="975" b="1">
                <a:solidFill>
                  <a:srgbClr val="167D7F"/>
                </a:solidFill>
                <a:latin typeface="Bitstream Charter"/>
                <a:ea typeface="Bitstream Charter"/>
                <a:cs typeface="Bitstream Charter"/>
              </a:rPr>
              <a:t>CONCLUSION</a:t>
            </a:r>
          </a:p>
        </p:txBody>
      </p:sp>
      <p:sp>
        <p:nvSpPr>
          <p:cNvPr id="2" name="">
            <a:extLst xmlns:a="http://schemas.openxmlformats.org/drawingml/2006/main">
              <a:ext uri="{FF2B5EF4-FFF2-40B4-BE49-F238E27FC236}">
                <a16:creationId xmlns:a16="http://schemas.microsoft.com/office/drawing/2014/main" id="{3F0E6641-1F0A-4902-BB3C-3A29EF42A199}"/>
              </a:ext>
            </a:extLst>
          </p:cNvPr>
          <p:cNvSpPr>
            <a:spLocks xmlns:a="http://schemas.openxmlformats.org/drawingml/2006/main" noGrp="1"/>
          </p:cNvSpPr>
          <p:nvPr/>
        </p:nvSpPr>
        <p:spPr>
          <a:xfrm xmlns:a="http://schemas.openxmlformats.org/drawingml/2006/main">
            <a:off x="609600" y="600075"/>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2263A"/>
                </a:solidFill>
                <a:latin typeface="Bitstream Charter"/>
                <a:ea typeface="Bitstream Charter"/>
                <a:cs typeface="Bitstream Charter"/>
              </a:defRPr>
            </a:pPr>
            <a:r>
              <a:rPr sz="2325" b="1">
                <a:solidFill>
                  <a:srgbClr val="12263A"/>
                </a:solidFill>
                <a:latin typeface="Bitstream Charter"/>
                <a:ea typeface="Bitstream Charter"/>
                <a:cs typeface="Bitstream Charter"/>
              </a:rPr>
              <a:t>Evidence, recommendation and alternatives</a:t>
            </a:r>
          </a:p>
        </p:txBody>
      </p:sp>
      <p:sp>
        <p:nvSpPr>
          <p:cNvPr id="3" name="">
            <a:extLst xmlns:a="http://schemas.openxmlformats.org/drawingml/2006/main">
              <a:ext uri="{FF2B5EF4-FFF2-40B4-BE49-F238E27FC236}">
                <a16:creationId xmlns:a16="http://schemas.microsoft.com/office/drawing/2014/main" id="{1AF3C1E7-2801-4F1C-95AF-C617BD18E952}"/>
              </a:ext>
            </a:extLst>
          </p:cNvPr>
          <p:cNvSpPr>
            <a:spLocks xmlns:a="http://schemas.openxmlformats.org/drawingml/2006/main" noGrp="1"/>
          </p:cNvSpPr>
          <p:nvPr/>
        </p:nvSpPr>
        <p:spPr>
          <a:xfrm xmlns:a="http://schemas.openxmlformats.org/drawingml/2006/main">
            <a:off x="11049000" y="5429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r">
              <a:buNone/>
              <a:defRPr sz="1200" b="1">
                <a:solidFill>
                  <a:srgbClr val="596A78"/>
                </a:solidFill>
                <a:latin typeface="Bitstream Charter"/>
                <a:ea typeface="Bitstream Charter"/>
                <a:cs typeface="Bitstream Charter"/>
              </a:defRPr>
            </a:pPr>
            <a:r>
              <a:rPr sz="1200" b="1">
                <a:solidFill>
                  <a:srgbClr val="596A78"/>
                </a:solidFill>
                <a:latin typeface="Bitstream Charter"/>
                <a:ea typeface="Bitstream Charter"/>
                <a:cs typeface="Bitstream Charter"/>
              </a:rPr>
              <a:t>09</a:t>
            </a:r>
          </a:p>
        </p:txBody>
      </p:sp>
      <p:sp>
        <p:nvSpPr>
          <p:cNvPr id="4" name="">
            <a:extLst xmlns:a="http://schemas.openxmlformats.org/drawingml/2006/main">
              <a:ext uri="{FF2B5EF4-FFF2-40B4-BE49-F238E27FC236}">
                <a16:creationId xmlns:a16="http://schemas.microsoft.com/office/drawing/2014/main" id="{679E955C-AE87-4493-8788-0ECDA0AA31F5}"/>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5" name="">
            <a:extLst xmlns:a="http://schemas.openxmlformats.org/drawingml/2006/main">
              <a:ext uri="{FF2B5EF4-FFF2-40B4-BE49-F238E27FC236}">
                <a16:creationId xmlns:a16="http://schemas.microsoft.com/office/drawing/2014/main" id="{D4AA38D9-2C30-45CA-8EDA-7414AF41E18E}"/>
              </a:ext>
            </a:extLst>
          </p:cNvPr>
          <p:cNvSpPr>
            <a:spLocks xmlns:a="http://schemas.openxmlformats.org/drawingml/2006/main" noGrp="1"/>
          </p:cNvSpPr>
          <p:nvPr/>
        </p:nvSpPr>
        <p:spPr>
          <a:xfrm xmlns:a="http://schemas.openxmlformats.org/drawingml/2006/main">
            <a:off x="609600" y="15049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167D7F"/>
                </a:solidFill>
                <a:latin typeface="Bitstream Charter"/>
                <a:ea typeface="Bitstream Charter"/>
                <a:cs typeface="Bitstream Charter"/>
              </a:defRPr>
            </a:pPr>
            <a:r>
              <a:rPr sz="1050" b="1">
                <a:solidFill>
                  <a:srgbClr val="167D7F"/>
                </a:solidFill>
                <a:latin typeface="Bitstream Charter"/>
                <a:ea typeface="Bitstream Charter"/>
                <a:cs typeface="Bitstream Charter"/>
              </a:rPr>
              <a:t>WHICH GRAPH SUPPORTS WHICH HYPOTHESIS?</a:t>
            </a:r>
          </a:p>
        </p:txBody>
      </p:sp>
      <p:sp>
        <p:nvSpPr>
          <p:cNvPr id="6" name="">
            <a:extLst xmlns:a="http://schemas.openxmlformats.org/drawingml/2006/main">
              <a:ext uri="{FF2B5EF4-FFF2-40B4-BE49-F238E27FC236}">
                <a16:creationId xmlns:a16="http://schemas.microsoft.com/office/drawing/2014/main" id="{3BD47E90-B01F-4C2D-A98B-97017BFA26AE}"/>
              </a:ext>
            </a:extLst>
          </p:cNvPr>
          <p:cNvSpPr>
            <a:spLocks xmlns:a="http://schemas.openxmlformats.org/drawingml/2006/main" noGrp="1"/>
          </p:cNvSpPr>
          <p:nvPr/>
        </p:nvSpPr>
        <p:spPr>
          <a:xfrm xmlns:a="http://schemas.openxmlformats.org/drawingml/2006/main">
            <a:off x="609600" y="1924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H1  Premium features and price</a:t>
            </a:r>
          </a:p>
        </p:txBody>
      </p:sp>
      <p:sp>
        <p:nvSpPr>
          <p:cNvPr id="7" name="">
            <a:extLst xmlns:a="http://schemas.openxmlformats.org/drawingml/2006/main">
              <a:ext uri="{FF2B5EF4-FFF2-40B4-BE49-F238E27FC236}">
                <a16:creationId xmlns:a16="http://schemas.microsoft.com/office/drawing/2014/main" id="{D302A4D3-5F5E-4C51-8399-D310D1D34D04}"/>
              </a:ext>
            </a:extLst>
          </p:cNvPr>
          <p:cNvSpPr>
            <a:spLocks xmlns:a="http://schemas.openxmlformats.org/drawingml/2006/main" noGrp="1"/>
          </p:cNvSpPr>
          <p:nvPr/>
        </p:nvSpPr>
        <p:spPr>
          <a:xfrm xmlns:a="http://schemas.openxmlformats.org/drawingml/2006/main">
            <a:off x="609600" y="224790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The criteria-count price graph supports H1. Median price rises from $0.32M to $2.30M as the full premium combination is met.</a:t>
            </a:r>
          </a:p>
        </p:txBody>
      </p:sp>
      <p:sp>
        <p:nvSpPr>
          <p:cNvPr id="8" name="">
            <a:extLst xmlns:a="http://schemas.openxmlformats.org/drawingml/2006/main">
              <a:ext uri="{FF2B5EF4-FFF2-40B4-BE49-F238E27FC236}">
                <a16:creationId xmlns:a16="http://schemas.microsoft.com/office/drawing/2014/main" id="{AA914095-1ECF-44E0-85CF-9461BA693B57}"/>
              </a:ext>
            </a:extLst>
          </p:cNvPr>
          <p:cNvSpPr>
            <a:spLocks xmlns:a="http://schemas.openxmlformats.org/drawingml/2006/main" noGrp="1"/>
          </p:cNvSpPr>
          <p:nvPr/>
        </p:nvSpPr>
        <p:spPr>
          <a:xfrm xmlns:a="http://schemas.openxmlformats.org/drawingml/2006/main">
            <a:off x="609600" y="31051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H2  Location and lot size</a:t>
            </a:r>
          </a:p>
        </p:txBody>
      </p:sp>
      <p:sp>
        <p:nvSpPr>
          <p:cNvPr id="9" name="">
            <a:extLst xmlns:a="http://schemas.openxmlformats.org/drawingml/2006/main">
              <a:ext uri="{FF2B5EF4-FFF2-40B4-BE49-F238E27FC236}">
                <a16:creationId xmlns:a16="http://schemas.microsoft.com/office/drawing/2014/main" id="{CE637EB5-C87D-422D-BE55-A6095E9D5DDC}"/>
              </a:ext>
            </a:extLst>
          </p:cNvPr>
          <p:cNvSpPr>
            <a:spLocks xmlns:a="http://schemas.openxmlformats.org/drawingml/2006/main" noGrp="1"/>
          </p:cNvSpPr>
          <p:nvPr/>
        </p:nvSpPr>
        <p:spPr>
          <a:xfrm xmlns:a="http://schemas.openxmlformats.org/drawingml/2006/main">
            <a:off x="609600" y="342900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The distance and lot-size graph partly supports H2. It tests proximity to the urban core, but not golf adjacency directly.</a:t>
            </a:r>
          </a:p>
        </p:txBody>
      </p:sp>
      <p:sp>
        <p:nvSpPr>
          <p:cNvPr id="10" name="">
            <a:extLst xmlns:a="http://schemas.openxmlformats.org/drawingml/2006/main">
              <a:ext uri="{FF2B5EF4-FFF2-40B4-BE49-F238E27FC236}">
                <a16:creationId xmlns:a16="http://schemas.microsoft.com/office/drawing/2014/main" id="{25AC2753-239B-451D-89D7-000A1428587F}"/>
              </a:ext>
            </a:extLst>
          </p:cNvPr>
          <p:cNvSpPr>
            <a:spLocks xmlns:a="http://schemas.openxmlformats.org/drawingml/2006/main" noGrp="1"/>
          </p:cNvSpPr>
          <p:nvPr/>
        </p:nvSpPr>
        <p:spPr>
          <a:xfrm xmlns:a="http://schemas.openxmlformats.org/drawingml/2006/main">
            <a:off x="609600" y="4286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27"/>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H3  Under-featured homes and discount</a:t>
            </a:r>
          </a:p>
        </p:txBody>
      </p:sp>
      <p:sp>
        <p:nvSpPr>
          <p:cNvPr id="11" name="">
            <a:extLst xmlns:a="http://schemas.openxmlformats.org/drawingml/2006/main">
              <a:ext uri="{FF2B5EF4-FFF2-40B4-BE49-F238E27FC236}">
                <a16:creationId xmlns:a16="http://schemas.microsoft.com/office/drawing/2014/main" id="{97A87D19-FA2D-441B-80E4-DCFF9A5C756D}"/>
              </a:ext>
            </a:extLst>
          </p:cNvPr>
          <p:cNvSpPr>
            <a:spLocks xmlns:a="http://schemas.openxmlformats.org/drawingml/2006/main" noGrp="1"/>
          </p:cNvSpPr>
          <p:nvPr/>
        </p:nvSpPr>
        <p:spPr>
          <a:xfrm xmlns:a="http://schemas.openxmlformats.org/drawingml/2006/main">
            <a:off x="609600" y="473392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96A78"/>
                </a:solidFill>
                <a:latin typeface="Bitstream Charter"/>
                <a:ea typeface="Bitstream Charter"/>
                <a:cs typeface="Bitstream Charter"/>
              </a:defRPr>
            </a:pPr>
            <a:r>
              <a:rPr sz="1275" b="0">
                <a:solidFill>
                  <a:srgbClr val="596A78"/>
                </a:solidFill>
                <a:latin typeface="Bitstream Charter"/>
                <a:ea typeface="Bitstream Charter"/>
                <a:cs typeface="Bitstream Charter"/>
              </a:rPr>
              <a:t>The price-per-sqft group graph supports H3. Renovation opportunities average $247 versus $470 for ready premium homes.</a:t>
            </a:r>
          </a:p>
        </p:txBody>
      </p:sp>
      <p:sp>
        <p:nvSpPr>
          <p:cNvPr id="12" name="">
            <a:extLst xmlns:a="http://schemas.openxmlformats.org/drawingml/2006/main">
              <a:ext uri="{FF2B5EF4-FFF2-40B4-BE49-F238E27FC236}">
                <a16:creationId xmlns:a16="http://schemas.microsoft.com/office/drawing/2014/main" id="{6F1B202F-AD5B-4AC7-91DF-68C4E512BFFA}"/>
              </a:ext>
            </a:extLst>
          </p:cNvPr>
          <p:cNvSpPr>
            <a:spLocks xmlns:a="http://schemas.openxmlformats.org/drawingml/2006/main" noGrp="1"/>
          </p:cNvSpPr>
          <p:nvPr/>
        </p:nvSpPr>
        <p:spPr>
          <a:xfrm xmlns:a="http://schemas.openxmlformats.org/drawingml/2006/main">
            <a:off x="4143375" y="1504950"/>
            <a:ext cx="19050" cy="41719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13" name="">
            <a:extLst xmlns:a="http://schemas.openxmlformats.org/drawingml/2006/main">
              <a:ext uri="{FF2B5EF4-FFF2-40B4-BE49-F238E27FC236}">
                <a16:creationId xmlns:a16="http://schemas.microsoft.com/office/drawing/2014/main" id="{AC0B5AA0-93B0-477B-9B45-F3C03870755E}"/>
              </a:ext>
            </a:extLst>
          </p:cNvPr>
          <p:cNvSpPr>
            <a:spLocks xmlns:a="http://schemas.openxmlformats.org/drawingml/2006/main" noGrp="1"/>
          </p:cNvSpPr>
          <p:nvPr/>
        </p:nvSpPr>
        <p:spPr>
          <a:xfrm xmlns:a="http://schemas.openxmlformats.org/drawingml/2006/main">
            <a:off x="4476750" y="15049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D06B50"/>
                </a:solidFill>
                <a:latin typeface="Bitstream Charter"/>
                <a:ea typeface="Bitstream Charter"/>
                <a:cs typeface="Bitstream Charter"/>
              </a:defRPr>
            </a:pPr>
            <a:r>
              <a:rPr sz="1050" b="1">
                <a:solidFill>
                  <a:srgbClr val="D06B50"/>
                </a:solidFill>
                <a:latin typeface="Bitstream Charter"/>
                <a:ea typeface="Bitstream Charter"/>
                <a:cs typeface="Bitstream Charter"/>
              </a:rPr>
              <a:t>RECOMMENDED PROPERTY</a:t>
            </a:r>
          </a:p>
        </p:txBody>
      </p:sp>
      <p:sp>
        <p:nvSpPr>
          <p:cNvPr id="14" name="">
            <a:extLst xmlns:a="http://schemas.openxmlformats.org/drawingml/2006/main">
              <a:ext uri="{FF2B5EF4-FFF2-40B4-BE49-F238E27FC236}">
                <a16:creationId xmlns:a16="http://schemas.microsoft.com/office/drawing/2014/main" id="{D367F2F0-A5E4-44C0-9059-8D8D8B6DD804}"/>
              </a:ext>
            </a:extLst>
          </p:cNvPr>
          <p:cNvSpPr>
            <a:spLocks xmlns:a="http://schemas.openxmlformats.org/drawingml/2006/main" noGrp="1"/>
          </p:cNvSpPr>
          <p:nvPr/>
        </p:nvSpPr>
        <p:spPr>
          <a:xfrm xmlns:a="http://schemas.openxmlformats.org/drawingml/2006/main">
            <a:off x="4476750" y="19526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827"/>
          </a:bodyPr>
          <a:lstStyle xmlns:a="http://schemas.openxmlformats.org/drawingml/2006/main"/>
          <a:p xmlns:a="http://schemas.openxmlformats.org/drawingml/2006/main">
            <a:pPr algn="l">
              <a:buNone/>
              <a:defRPr sz="2025" b="1">
                <a:solidFill>
                  <a:srgbClr val="12263A"/>
                </a:solidFill>
                <a:latin typeface="Bitstream Charter"/>
                <a:ea typeface="Bitstream Charter"/>
                <a:cs typeface="Bitstream Charter"/>
              </a:defRPr>
            </a:pPr>
            <a:r>
              <a:rPr sz="2025" b="1">
                <a:solidFill>
                  <a:srgbClr val="12263A"/>
                </a:solidFill>
                <a:latin typeface="Bitstream Charter"/>
                <a:ea typeface="Bitstream Charter"/>
                <a:cs typeface="Bitstream Charter"/>
              </a:rPr>
              <a:t>House 6762700020</a:t>
            </a:r>
          </a:p>
        </p:txBody>
      </p:sp>
      <p:sp>
        <p:nvSpPr>
          <p:cNvPr id="15" name="">
            <a:extLst xmlns:a="http://schemas.openxmlformats.org/drawingml/2006/main">
              <a:ext uri="{FF2B5EF4-FFF2-40B4-BE49-F238E27FC236}">
                <a16:creationId xmlns:a16="http://schemas.microsoft.com/office/drawing/2014/main" id="{068E117A-6BCC-41B4-8915-DEB77040C4AA}"/>
              </a:ext>
            </a:extLst>
          </p:cNvPr>
          <p:cNvSpPr>
            <a:spLocks xmlns:a="http://schemas.openxmlformats.org/drawingml/2006/main" noGrp="1"/>
          </p:cNvSpPr>
          <p:nvPr/>
        </p:nvSpPr>
        <p:spPr>
          <a:xfrm xmlns:a="http://schemas.openxmlformats.org/drawingml/2006/main">
            <a:off x="4476750" y="24574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127"/>
          </a:bodyPr>
          <a:lstStyle xmlns:a="http://schemas.openxmlformats.org/drawingml/2006/main"/>
          <a:p xmlns:a="http://schemas.openxmlformats.org/drawingml/2006/main">
            <a:pPr algn="l">
              <a:buNone/>
              <a:defRPr sz="3150" b="1">
                <a:solidFill>
                  <a:srgbClr val="D06B50"/>
                </a:solidFill>
                <a:latin typeface="Bitstream Charter"/>
                <a:ea typeface="Bitstream Charter"/>
                <a:cs typeface="Bitstream Charter"/>
              </a:defRPr>
            </a:pPr>
            <a:r>
              <a:rPr sz="3150" b="1">
                <a:solidFill>
                  <a:srgbClr val="D06B50"/>
                </a:solidFill>
                <a:latin typeface="Bitstream Charter"/>
                <a:ea typeface="Bitstream Charter"/>
                <a:cs typeface="Bitstream Charter"/>
              </a:rPr>
              <a:t>$7.7M</a:t>
            </a:r>
          </a:p>
        </p:txBody>
      </p:sp>
      <p:sp>
        <p:nvSpPr>
          <p:cNvPr id="16" name="">
            <a:extLst xmlns:a="http://schemas.openxmlformats.org/drawingml/2006/main">
              <a:ext uri="{FF2B5EF4-FFF2-40B4-BE49-F238E27FC236}">
                <a16:creationId xmlns:a16="http://schemas.microsoft.com/office/drawing/2014/main" id="{F1430359-63EE-4CD3-9950-C039F4CC31EA}"/>
              </a:ext>
            </a:extLst>
          </p:cNvPr>
          <p:cNvSpPr>
            <a:spLocks xmlns:a="http://schemas.openxmlformats.org/drawingml/2006/main" noGrp="1"/>
          </p:cNvSpPr>
          <p:nvPr/>
        </p:nvSpPr>
        <p:spPr>
          <a:xfrm xmlns:a="http://schemas.openxmlformats.org/drawingml/2006/main">
            <a:off x="4476750" y="31623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Why it ranks first</a:t>
            </a:r>
          </a:p>
        </p:txBody>
      </p:sp>
      <p:sp>
        <p:nvSpPr>
          <p:cNvPr id="17" name="">
            <a:extLst xmlns:a="http://schemas.openxmlformats.org/drawingml/2006/main">
              <a:ext uri="{FF2B5EF4-FFF2-40B4-BE49-F238E27FC236}">
                <a16:creationId xmlns:a16="http://schemas.microsoft.com/office/drawing/2014/main" id="{A4E2940A-1D63-4ACC-A213-4762B7F19951}"/>
              </a:ext>
            </a:extLst>
          </p:cNvPr>
          <p:cNvSpPr>
            <a:spLocks xmlns:a="http://schemas.openxmlformats.org/drawingml/2006/main" noGrp="1"/>
          </p:cNvSpPr>
          <p:nvPr/>
        </p:nvSpPr>
        <p:spPr>
          <a:xfrm xmlns:a="http://schemas.openxmlformats.org/drawingml/2006/main">
            <a:off x="4476750" y="3514725"/>
            <a:ext cx="304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It meets all four buyer criteria and has the highest recorded sale price in the qualified shortlist. Its $7.7M price stands more than $4M above the next candidate.</a:t>
            </a:r>
          </a:p>
        </p:txBody>
      </p:sp>
      <p:sp>
        <p:nvSpPr>
          <p:cNvPr id="18" name="">
            <a:extLst xmlns:a="http://schemas.openxmlformats.org/drawingml/2006/main">
              <a:ext uri="{FF2B5EF4-FFF2-40B4-BE49-F238E27FC236}">
                <a16:creationId xmlns:a16="http://schemas.microsoft.com/office/drawing/2014/main" id="{9AC8A2F8-3B5F-407A-B503-F5B5DA4A3874}"/>
              </a:ext>
            </a:extLst>
          </p:cNvPr>
          <p:cNvSpPr>
            <a:spLocks xmlns:a="http://schemas.openxmlformats.org/drawingml/2006/main" noGrp="1"/>
          </p:cNvSpPr>
          <p:nvPr/>
        </p:nvSpPr>
        <p:spPr>
          <a:xfrm xmlns:a="http://schemas.openxmlformats.org/drawingml/2006/main">
            <a:off x="4476750" y="48768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Location</a:t>
            </a:r>
          </a:p>
        </p:txBody>
      </p:sp>
      <p:sp>
        <p:nvSpPr>
          <p:cNvPr id="19" name="">
            <a:extLst xmlns:a="http://schemas.openxmlformats.org/drawingml/2006/main">
              <a:ext uri="{FF2B5EF4-FFF2-40B4-BE49-F238E27FC236}">
                <a16:creationId xmlns:a16="http://schemas.microsoft.com/office/drawing/2014/main" id="{1A0CCCDA-EBE3-40E4-974F-0A848B6328EA}"/>
              </a:ext>
            </a:extLst>
          </p:cNvPr>
          <p:cNvSpPr>
            <a:spLocks xmlns:a="http://schemas.openxmlformats.org/drawingml/2006/main" noGrp="1"/>
          </p:cNvSpPr>
          <p:nvPr/>
        </p:nvSpPr>
        <p:spPr>
          <a:xfrm xmlns:a="http://schemas.openxmlformats.org/drawingml/2006/main">
            <a:off x="4476750" y="521970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03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Postal code 98102. About </a:t>
            </a:r>
            <a:r>
              <a:rPr sz="1350" b="0">
                <a:solidFill>
                  <a:srgbClr val="596A78"/>
                </a:solidFill>
                <a:latin typeface="Bitstream Charter"/>
                <a:ea typeface="Bitstream Charter"/>
                <a:cs typeface="Bitstream Charter"/>
              </a:rPr>
              <a:t>1.54 miles</a:t>
            </a:r>
            <a:r>
              <a:rPr sz="1350" b="0">
                <a:solidFill>
                  <a:srgbClr val="596A78"/>
                </a:solidFill>
                <a:latin typeface="Bitstream Charter"/>
                <a:ea typeface="Bitstream Charter"/>
                <a:cs typeface="Bitstream Charter"/>
              </a:rPr>
              <a:t> from Broadmoor Golf Club by straight-line distance.</a:t>
            </a:r>
          </a:p>
        </p:txBody>
      </p:sp>
      <p:sp>
        <p:nvSpPr>
          <p:cNvPr id="20" name="">
            <a:extLst xmlns:a="http://schemas.openxmlformats.org/drawingml/2006/main">
              <a:ext uri="{FF2B5EF4-FFF2-40B4-BE49-F238E27FC236}">
                <a16:creationId xmlns:a16="http://schemas.microsoft.com/office/drawing/2014/main" id="{5B9020E1-E642-4837-A226-CF23CF6AC582}"/>
              </a:ext>
            </a:extLst>
          </p:cNvPr>
          <p:cNvSpPr>
            <a:spLocks xmlns:a="http://schemas.openxmlformats.org/drawingml/2006/main" noGrp="1"/>
          </p:cNvSpPr>
          <p:nvPr/>
        </p:nvSpPr>
        <p:spPr>
          <a:xfrm xmlns:a="http://schemas.openxmlformats.org/drawingml/2006/main">
            <a:off x="7762875" y="1504950"/>
            <a:ext cx="19050" cy="4171950"/>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21" name="">
            <a:extLst xmlns:a="http://schemas.openxmlformats.org/drawingml/2006/main">
              <a:ext uri="{FF2B5EF4-FFF2-40B4-BE49-F238E27FC236}">
                <a16:creationId xmlns:a16="http://schemas.microsoft.com/office/drawing/2014/main" id="{2487541E-A931-4D8F-B9DC-36127E35E566}"/>
              </a:ext>
            </a:extLst>
          </p:cNvPr>
          <p:cNvSpPr>
            <a:spLocks xmlns:a="http://schemas.openxmlformats.org/drawingml/2006/main" noGrp="1"/>
          </p:cNvSpPr>
          <p:nvPr/>
        </p:nvSpPr>
        <p:spPr>
          <a:xfrm xmlns:a="http://schemas.openxmlformats.org/drawingml/2006/main">
            <a:off x="8096250" y="15049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244C66"/>
                </a:solidFill>
                <a:latin typeface="Bitstream Charter"/>
                <a:ea typeface="Bitstream Charter"/>
                <a:cs typeface="Bitstream Charter"/>
              </a:defRPr>
            </a:pPr>
            <a:r>
              <a:rPr sz="1050" b="1">
                <a:solidFill>
                  <a:srgbClr val="244C66"/>
                </a:solidFill>
                <a:latin typeface="Bitstream Charter"/>
                <a:ea typeface="Bitstream Charter"/>
                <a:cs typeface="Bitstream Charter"/>
              </a:rPr>
              <a:t>ALTERNATIVES</a:t>
            </a:r>
          </a:p>
        </p:txBody>
      </p:sp>
      <p:sp>
        <p:nvSpPr>
          <p:cNvPr id="22" name="">
            <a:extLst xmlns:a="http://schemas.openxmlformats.org/drawingml/2006/main">
              <a:ext uri="{FF2B5EF4-FFF2-40B4-BE49-F238E27FC236}">
                <a16:creationId xmlns:a16="http://schemas.microsoft.com/office/drawing/2014/main" id="{D850C5FE-B668-427F-BD6F-F54384086627}"/>
              </a:ext>
            </a:extLst>
          </p:cNvPr>
          <p:cNvSpPr>
            <a:spLocks xmlns:a="http://schemas.openxmlformats.org/drawingml/2006/main" noGrp="1"/>
          </p:cNvSpPr>
          <p:nvPr/>
        </p:nvSpPr>
        <p:spPr>
          <a:xfrm xmlns:a="http://schemas.openxmlformats.org/drawingml/2006/main">
            <a:off x="8096250" y="19526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Next qualified homes</a:t>
            </a:r>
          </a:p>
        </p:txBody>
      </p:sp>
      <p:sp>
        <p:nvSpPr>
          <p:cNvPr id="23" name="">
            <a:extLst xmlns:a="http://schemas.openxmlformats.org/drawingml/2006/main">
              <a:ext uri="{FF2B5EF4-FFF2-40B4-BE49-F238E27FC236}">
                <a16:creationId xmlns:a16="http://schemas.microsoft.com/office/drawing/2014/main" id="{BF8DB60B-C6C1-4E49-B144-577D74C722EE}"/>
              </a:ext>
            </a:extLst>
          </p:cNvPr>
          <p:cNvSpPr>
            <a:spLocks xmlns:a="http://schemas.openxmlformats.org/drawingml/2006/main" noGrp="1"/>
          </p:cNvSpPr>
          <p:nvPr/>
        </p:nvSpPr>
        <p:spPr>
          <a:xfrm xmlns:a="http://schemas.openxmlformats.org/drawingml/2006/main">
            <a:off x="8096250" y="22860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House 1118000320 at $3.39M and house 1346300150 at $3.29M provide lower-priced backup options.</a:t>
            </a:r>
          </a:p>
        </p:txBody>
      </p:sp>
      <p:sp>
        <p:nvSpPr>
          <p:cNvPr id="24" name="">
            <a:extLst xmlns:a="http://schemas.openxmlformats.org/drawingml/2006/main">
              <a:ext uri="{FF2B5EF4-FFF2-40B4-BE49-F238E27FC236}">
                <a16:creationId xmlns:a16="http://schemas.microsoft.com/office/drawing/2014/main" id="{C599A71A-DC92-4C29-83B2-284C37B0BAEE}"/>
              </a:ext>
            </a:extLst>
          </p:cNvPr>
          <p:cNvSpPr>
            <a:spLocks xmlns:a="http://schemas.openxmlformats.org/drawingml/2006/main" noGrp="1"/>
          </p:cNvSpPr>
          <p:nvPr/>
        </p:nvSpPr>
        <p:spPr>
          <a:xfrm xmlns:a="http://schemas.openxmlformats.org/drawingml/2006/main">
            <a:off x="8096250" y="32575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Larger-lot search</a:t>
            </a:r>
          </a:p>
        </p:txBody>
      </p:sp>
      <p:sp>
        <p:nvSpPr>
          <p:cNvPr id="25" name="">
            <a:extLst xmlns:a="http://schemas.openxmlformats.org/drawingml/2006/main">
              <a:ext uri="{FF2B5EF4-FFF2-40B4-BE49-F238E27FC236}">
                <a16:creationId xmlns:a16="http://schemas.microsoft.com/office/drawing/2014/main" id="{A3337DF9-0924-47B7-A9F6-717CC6E353BA}"/>
              </a:ext>
            </a:extLst>
          </p:cNvPr>
          <p:cNvSpPr>
            <a:spLocks xmlns:a="http://schemas.openxmlformats.org/drawingml/2006/main" noGrp="1"/>
          </p:cNvSpPr>
          <p:nvPr/>
        </p:nvSpPr>
        <p:spPr>
          <a:xfrm xmlns:a="http://schemas.openxmlformats.org/drawingml/2006/main">
            <a:off x="8096250" y="35909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The 10–20 mile band has the largest median lots. Use this alternative if land matters more than central location.</a:t>
            </a:r>
          </a:p>
        </p:txBody>
      </p:sp>
      <p:sp>
        <p:nvSpPr>
          <p:cNvPr id="26" name="">
            <a:extLst xmlns:a="http://schemas.openxmlformats.org/drawingml/2006/main">
              <a:ext uri="{FF2B5EF4-FFF2-40B4-BE49-F238E27FC236}">
                <a16:creationId xmlns:a16="http://schemas.microsoft.com/office/drawing/2014/main" id="{4CBD4B6C-51D5-40C4-BE4E-17112A91ABA8}"/>
              </a:ext>
            </a:extLst>
          </p:cNvPr>
          <p:cNvSpPr>
            <a:spLocks xmlns:a="http://schemas.openxmlformats.org/drawingml/2006/main" noGrp="1"/>
          </p:cNvSpPr>
          <p:nvPr/>
        </p:nvSpPr>
        <p:spPr>
          <a:xfrm xmlns:a="http://schemas.openxmlformats.org/drawingml/2006/main">
            <a:off x="8096250" y="45529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2263A"/>
                </a:solidFill>
                <a:latin typeface="Bitstream Charter"/>
                <a:ea typeface="Bitstream Charter"/>
                <a:cs typeface="Bitstream Charter"/>
              </a:defRPr>
            </a:pPr>
            <a:r>
              <a:rPr sz="1500" b="1">
                <a:solidFill>
                  <a:srgbClr val="12263A"/>
                </a:solidFill>
                <a:latin typeface="Bitstream Charter"/>
                <a:ea typeface="Bitstream Charter"/>
                <a:cs typeface="Bitstream Charter"/>
              </a:rPr>
              <a:t>Renovation opportunity</a:t>
            </a:r>
          </a:p>
        </p:txBody>
      </p:sp>
      <p:sp>
        <p:nvSpPr>
          <p:cNvPr id="27" name="">
            <a:extLst xmlns:a="http://schemas.openxmlformats.org/drawingml/2006/main">
              <a:ext uri="{FF2B5EF4-FFF2-40B4-BE49-F238E27FC236}">
                <a16:creationId xmlns:a16="http://schemas.microsoft.com/office/drawing/2014/main" id="{9729466D-19C3-462E-8274-B537159BCD84}"/>
              </a:ext>
            </a:extLst>
          </p:cNvPr>
          <p:cNvSpPr>
            <a:spLocks xmlns:a="http://schemas.openxmlformats.org/drawingml/2006/main" noGrp="1"/>
          </p:cNvSpPr>
          <p:nvPr/>
        </p:nvSpPr>
        <p:spPr>
          <a:xfrm xmlns:a="http://schemas.openxmlformats.org/drawingml/2006/main">
            <a:off x="8096250" y="48863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596A78"/>
                </a:solidFill>
                <a:latin typeface="Bitstream Charter"/>
                <a:ea typeface="Bitstream Charter"/>
                <a:cs typeface="Bitstream Charter"/>
              </a:defRPr>
            </a:pPr>
            <a:r>
              <a:rPr sz="1350" b="0">
                <a:solidFill>
                  <a:srgbClr val="596A78"/>
                </a:solidFill>
                <a:latin typeface="Bitstream Charter"/>
                <a:ea typeface="Bitstream Charter"/>
                <a:cs typeface="Bitstream Charter"/>
              </a:rPr>
              <a:t>The lower $247-per-sqft group offers value, subject to inspection and renovation-cost validation.</a:t>
            </a:r>
          </a:p>
        </p:txBody>
      </p:sp>
      <p:sp>
        <p:nvSpPr>
          <p:cNvPr id="28" name="">
            <a:extLst xmlns:a="http://schemas.openxmlformats.org/drawingml/2006/main">
              <a:ext uri="{FF2B5EF4-FFF2-40B4-BE49-F238E27FC236}">
                <a16:creationId xmlns:a16="http://schemas.microsoft.com/office/drawing/2014/main" id="{7FC1B2BD-C651-49D6-A45E-0CB4E98F93D3}"/>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5D9D7"/>
          </a:solidFill>
          <a:ln xmlns:a="http://schemas.openxmlformats.org/drawingml/2006/main" w="0">
            <a:solidFill>
              <a:srgbClr val="D5D9D7"/>
            </a:solidFill>
          </a:ln>
        </p:spPr>
      </p:sp>
      <p:sp>
        <p:nvSpPr>
          <p:cNvPr id="29" name="">
            <a:extLst xmlns:a="http://schemas.openxmlformats.org/drawingml/2006/main">
              <a:ext uri="{FF2B5EF4-FFF2-40B4-BE49-F238E27FC236}">
                <a16:creationId xmlns:a16="http://schemas.microsoft.com/office/drawing/2014/main" id="{F420A3F4-AF03-46B0-B391-431972AA9B79}"/>
              </a:ext>
            </a:extLst>
          </p:cNvPr>
          <p:cNvSpPr>
            <a:spLocks xmlns:a="http://schemas.openxmlformats.org/drawingml/2006/main" noGrp="1"/>
          </p:cNvSpPr>
          <p:nvPr/>
        </p:nvSpPr>
        <p:spPr>
          <a:xfrm xmlns:a="http://schemas.openxmlformats.org/drawingml/2006/main">
            <a:off x="609600" y="6534150"/>
            <a:ext cx="666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1667"/>
          </a:bodyPr>
          <a:lstStyle xmlns:a="http://schemas.openxmlformats.org/drawingml/2006/main"/>
          <a:p xmlns:a="http://schemas.openxmlformats.org/drawingml/2006/main">
            <a:pPr algn="l">
              <a:buNone/>
              <a:defRPr sz="750" b="0">
                <a:solidFill>
                  <a:srgbClr val="596A78"/>
                </a:solidFill>
                <a:latin typeface="Bitstream Charter"/>
                <a:ea typeface="Bitstream Charter"/>
                <a:cs typeface="Bitstream Charter"/>
              </a:defRPr>
            </a:pPr>
            <a:r>
              <a:rPr sz="750" b="0">
                <a:solidFill>
                  <a:srgbClr val="596A78"/>
                </a:solidFill>
                <a:latin typeface="Bitstream Charter"/>
                <a:ea typeface="Bitstream Charter"/>
                <a:cs typeface="Bitstream Charter"/>
              </a:rPr>
              <a:t>King County Housing EDA</a:t>
            </a:r>
          </a:p>
        </p:txBody>
      </p:sp>
    </p:spTree>
    <p:extLst>
      <p:ext uri="{BB962C8B-B14F-4D97-AF65-F5344CB8AC3E}">
        <p14:creationId xmlns:p14="http://schemas.microsoft.com/office/powerpoint/2010/main" val="1485593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2026-09-17T15:03:16.7270000Z</dcterms:created>
  <dcterms:modified xsi:type="dcterms:W3CDTF">2026-09-17T15:03:16.7270000Z</dcterms:modified>
</coreProperties>
</file>